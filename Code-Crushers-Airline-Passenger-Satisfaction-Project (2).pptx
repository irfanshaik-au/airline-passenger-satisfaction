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Lato"/>
      <p:regular r:id="rId18"/>
    </p:embeddedFont>
    <p:embeddedFont>
      <p:font typeface="Lato"/>
      <p:regular r:id="rId19"/>
    </p:embeddedFont>
    <p:embeddedFont>
      <p:font typeface="Lato"/>
      <p:regular r:id="rId20"/>
    </p:embeddedFont>
    <p:embeddedFont>
      <p:font typeface="Lato"/>
      <p:regular r:id="rId21"/>
    </p:embeddedFont>
    <p:embeddedFont>
      <p:font typeface="Lato"/>
      <p:regular r:id="rId22"/>
    </p:embeddedFont>
    <p:embeddedFont>
      <p:font typeface="Lato"/>
      <p:regular r:id="rId23"/>
    </p:embeddedFont>
    <p:embeddedFont>
      <p:font typeface="Lato"/>
      <p:regular r:id="rId24"/>
    </p:embeddedFont>
    <p:embeddedFont>
      <p:font typeface="Lato"/>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6.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slideLayout" Target="../slideLayouts/slideLayout7.xml"/><Relationship Id="rId2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846659"/>
            <a:ext cx="7556421" cy="2126337"/>
          </a:xfrm>
          <a:prstGeom prst="rect">
            <a:avLst/>
          </a:prstGeom>
          <a:noFill/>
          <a:ln/>
        </p:spPr>
        <p:txBody>
          <a:bodyPr wrap="square" lIns="0" tIns="0" rIns="0" bIns="0" rtlCol="0" anchor="t"/>
          <a:lstStyle/>
          <a:p>
            <a:pPr algn="l" indent="0" marL="0">
              <a:lnSpc>
                <a:spcPts val="5550"/>
              </a:lnSpc>
              <a:buNone/>
            </a:pPr>
            <a:r>
              <a:rPr lang="en-US" sz="4450" b="1" dirty="0">
                <a:solidFill>
                  <a:srgbClr val="282824"/>
                </a:solidFill>
                <a:latin typeface="Lato Bold" pitchFamily="34" charset="0"/>
                <a:ea typeface="Lato Bold" pitchFamily="34" charset="-122"/>
                <a:cs typeface="Lato Bold" pitchFamily="34" charset="-120"/>
              </a:rPr>
              <a:t>Code Crushers Airline Passenger Satisfaction Project</a:t>
            </a:r>
            <a:endParaRPr lang="en-US" sz="4450" dirty="0"/>
          </a:p>
        </p:txBody>
      </p:sp>
      <p:sp>
        <p:nvSpPr>
          <p:cNvPr id="4" name="Text 1"/>
          <p:cNvSpPr/>
          <p:nvPr/>
        </p:nvSpPr>
        <p:spPr>
          <a:xfrm>
            <a:off x="6280190" y="4313158"/>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Air travel is essential for many, and airlines strive to ensure passenger satisfaction to retain customers. This project aims to predict airline passenger satisfaction using data analytics. Understanding key factors helps airlines improve services and customer experience.</a:t>
            </a:r>
            <a:endParaRPr lang="en-US" sz="1750" dirty="0"/>
          </a:p>
        </p:txBody>
      </p:sp>
      <p:sp>
        <p:nvSpPr>
          <p:cNvPr id="5" name="Text 2"/>
          <p:cNvSpPr/>
          <p:nvPr/>
        </p:nvSpPr>
        <p:spPr>
          <a:xfrm>
            <a:off x="6280190" y="601991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BY:CODE CRUSHERS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264926"/>
            <a:ext cx="11506795" cy="708779"/>
          </a:xfrm>
          <a:prstGeom prst="rect">
            <a:avLst/>
          </a:prstGeom>
          <a:noFill/>
          <a:ln/>
        </p:spPr>
        <p:txBody>
          <a:bodyPr wrap="none" lIns="0" tIns="0" rIns="0" bIns="0" rtlCol="0" anchor="t"/>
          <a:lstStyle/>
          <a:p>
            <a:pPr algn="l" indent="0" marL="0">
              <a:lnSpc>
                <a:spcPts val="5550"/>
              </a:lnSpc>
              <a:buNone/>
            </a:pPr>
            <a:r>
              <a:rPr lang="en-US" sz="4450" b="1" dirty="0">
                <a:solidFill>
                  <a:srgbClr val="282824"/>
                </a:solidFill>
                <a:latin typeface="Lato Bold" pitchFamily="34" charset="0"/>
                <a:ea typeface="Lato Bold" pitchFamily="34" charset="-122"/>
                <a:cs typeface="Lato Bold" pitchFamily="34" charset="-120"/>
              </a:rPr>
              <a:t>Dataset Overview and Passenger Information</a:t>
            </a:r>
            <a:endParaRPr lang="en-US" sz="4450" dirty="0"/>
          </a:p>
        </p:txBody>
      </p:sp>
      <p:sp>
        <p:nvSpPr>
          <p:cNvPr id="3" name="Text 1"/>
          <p:cNvSpPr/>
          <p:nvPr/>
        </p:nvSpPr>
        <p:spPr>
          <a:xfrm>
            <a:off x="793790" y="3313867"/>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The dataset, sourced from Kaggle, includes 103,904 passengers and 25 variables. It covers demographic details, flight experience ratings, and satisfaction status. This rich data foundation supports comprehensive analysis of passenger satisfaction drivers.</a:t>
            </a:r>
            <a:endParaRPr lang="en-US" sz="1750" dirty="0"/>
          </a:p>
        </p:txBody>
      </p:sp>
      <p:sp>
        <p:nvSpPr>
          <p:cNvPr id="4" name="Shape 2"/>
          <p:cNvSpPr/>
          <p:nvPr/>
        </p:nvSpPr>
        <p:spPr>
          <a:xfrm>
            <a:off x="793790" y="4294823"/>
            <a:ext cx="4196358" cy="1669852"/>
          </a:xfrm>
          <a:prstGeom prst="roundRect">
            <a:avLst>
              <a:gd name="adj" fmla="val 2038"/>
            </a:avLst>
          </a:prstGeom>
          <a:solidFill>
            <a:srgbClr val="E5DFD2"/>
          </a:solidFill>
          <a:ln/>
        </p:spPr>
      </p:sp>
      <p:sp>
        <p:nvSpPr>
          <p:cNvPr id="5" name="Text 3"/>
          <p:cNvSpPr/>
          <p:nvPr/>
        </p:nvSpPr>
        <p:spPr>
          <a:xfrm>
            <a:off x="1020604" y="452163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Passenger Count</a:t>
            </a:r>
            <a:endParaRPr lang="en-US" sz="2200" dirty="0"/>
          </a:p>
        </p:txBody>
      </p:sp>
      <p:sp>
        <p:nvSpPr>
          <p:cNvPr id="6" name="Text 4"/>
          <p:cNvSpPr/>
          <p:nvPr/>
        </p:nvSpPr>
        <p:spPr>
          <a:xfrm>
            <a:off x="1020604" y="5012055"/>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103,904 passengers included in the dataset</a:t>
            </a:r>
            <a:endParaRPr lang="en-US" sz="1750" dirty="0"/>
          </a:p>
        </p:txBody>
      </p:sp>
      <p:sp>
        <p:nvSpPr>
          <p:cNvPr id="7" name="Shape 5"/>
          <p:cNvSpPr/>
          <p:nvPr/>
        </p:nvSpPr>
        <p:spPr>
          <a:xfrm>
            <a:off x="5216962" y="4294823"/>
            <a:ext cx="4196358" cy="1669852"/>
          </a:xfrm>
          <a:prstGeom prst="roundRect">
            <a:avLst>
              <a:gd name="adj" fmla="val 2038"/>
            </a:avLst>
          </a:prstGeom>
          <a:solidFill>
            <a:srgbClr val="E5DFD2"/>
          </a:solidFill>
          <a:ln/>
        </p:spPr>
      </p:sp>
      <p:sp>
        <p:nvSpPr>
          <p:cNvPr id="8" name="Text 6"/>
          <p:cNvSpPr/>
          <p:nvPr/>
        </p:nvSpPr>
        <p:spPr>
          <a:xfrm>
            <a:off x="5443776" y="452163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Variables</a:t>
            </a:r>
            <a:endParaRPr lang="en-US" sz="2200" dirty="0"/>
          </a:p>
        </p:txBody>
      </p:sp>
      <p:sp>
        <p:nvSpPr>
          <p:cNvPr id="9" name="Text 7"/>
          <p:cNvSpPr/>
          <p:nvPr/>
        </p:nvSpPr>
        <p:spPr>
          <a:xfrm>
            <a:off x="5443776" y="5012055"/>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25 features including demographics and flight experience</a:t>
            </a:r>
            <a:endParaRPr lang="en-US" sz="1750" dirty="0"/>
          </a:p>
        </p:txBody>
      </p:sp>
      <p:sp>
        <p:nvSpPr>
          <p:cNvPr id="10" name="Shape 8"/>
          <p:cNvSpPr/>
          <p:nvPr/>
        </p:nvSpPr>
        <p:spPr>
          <a:xfrm>
            <a:off x="9640133" y="4294823"/>
            <a:ext cx="4196358" cy="1669852"/>
          </a:xfrm>
          <a:prstGeom prst="roundRect">
            <a:avLst>
              <a:gd name="adj" fmla="val 2038"/>
            </a:avLst>
          </a:prstGeom>
          <a:solidFill>
            <a:srgbClr val="E5DFD2"/>
          </a:solidFill>
          <a:ln/>
        </p:spPr>
      </p:sp>
      <p:sp>
        <p:nvSpPr>
          <p:cNvPr id="11" name="Text 9"/>
          <p:cNvSpPr/>
          <p:nvPr/>
        </p:nvSpPr>
        <p:spPr>
          <a:xfrm>
            <a:off x="9866948" y="452163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Data Source</a:t>
            </a:r>
            <a:endParaRPr lang="en-US" sz="2200" dirty="0"/>
          </a:p>
        </p:txBody>
      </p:sp>
      <p:sp>
        <p:nvSpPr>
          <p:cNvPr id="12" name="Text 10"/>
          <p:cNvSpPr/>
          <p:nvPr/>
        </p:nvSpPr>
        <p:spPr>
          <a:xfrm>
            <a:off x="9866948" y="5012055"/>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Kaggle airline passenger satisfaction dataset</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24959" y="586502"/>
            <a:ext cx="5099566" cy="558046"/>
          </a:xfrm>
          <a:prstGeom prst="rect">
            <a:avLst/>
          </a:prstGeom>
          <a:noFill/>
          <a:ln/>
        </p:spPr>
        <p:txBody>
          <a:bodyPr wrap="none" lIns="0" tIns="0" rIns="0" bIns="0" rtlCol="0" anchor="t"/>
          <a:lstStyle/>
          <a:p>
            <a:pPr algn="l" indent="0" marL="0">
              <a:lnSpc>
                <a:spcPts val="4350"/>
              </a:lnSpc>
              <a:buNone/>
            </a:pPr>
            <a:r>
              <a:rPr lang="en-US" sz="3500" b="1" dirty="0">
                <a:solidFill>
                  <a:srgbClr val="282824"/>
                </a:solidFill>
                <a:latin typeface="Lato Bold" pitchFamily="34" charset="0"/>
                <a:ea typeface="Lato Bold" pitchFamily="34" charset="-122"/>
                <a:cs typeface="Lato Bold" pitchFamily="34" charset="-120"/>
              </a:rPr>
              <a:t>Data Preparation Process</a:t>
            </a:r>
            <a:endParaRPr lang="en-US" sz="3500" dirty="0"/>
          </a:p>
        </p:txBody>
      </p:sp>
      <p:sp>
        <p:nvSpPr>
          <p:cNvPr id="3" name="Text 1"/>
          <p:cNvSpPr/>
          <p:nvPr/>
        </p:nvSpPr>
        <p:spPr>
          <a:xfrm>
            <a:off x="624959" y="1412319"/>
            <a:ext cx="13380482" cy="571500"/>
          </a:xfrm>
          <a:prstGeom prst="rect">
            <a:avLst/>
          </a:prstGeom>
          <a:noFill/>
          <a:ln/>
        </p:spPr>
        <p:txBody>
          <a:bodyPr wrap="square" lIns="0" tIns="0" rIns="0" bIns="0" rtlCol="0" anchor="t"/>
          <a:lstStyle/>
          <a:p>
            <a:pPr algn="l" indent="0" marL="0">
              <a:lnSpc>
                <a:spcPts val="2200"/>
              </a:lnSpc>
              <a:buNone/>
            </a:pPr>
            <a:r>
              <a:rPr lang="en-US" sz="1400" dirty="0">
                <a:solidFill>
                  <a:srgbClr val="4A4A45"/>
                </a:solidFill>
                <a:latin typeface="Lato" pitchFamily="34" charset="0"/>
                <a:ea typeface="Lato" pitchFamily="34" charset="-122"/>
                <a:cs typeface="Lato" pitchFamily="34" charset="-120"/>
              </a:rPr>
              <a:t>Following the CRISP-DM framework, data preparation ensures the dataset is clean and ready for modeling. Key tasks included cleaning, handling missing values, encoding categorical variables, and addressing outliers.</a:t>
            </a:r>
            <a:endParaRPr lang="en-US" sz="1400" dirty="0"/>
          </a:p>
        </p:txBody>
      </p:sp>
      <p:sp>
        <p:nvSpPr>
          <p:cNvPr id="4" name="Text 2"/>
          <p:cNvSpPr/>
          <p:nvPr/>
        </p:nvSpPr>
        <p:spPr>
          <a:xfrm>
            <a:off x="624959" y="2184678"/>
            <a:ext cx="13380482" cy="285750"/>
          </a:xfrm>
          <a:prstGeom prst="rect">
            <a:avLst/>
          </a:prstGeom>
          <a:noFill/>
          <a:ln/>
        </p:spPr>
        <p:txBody>
          <a:bodyPr wrap="none" lIns="0" tIns="0" rIns="0" bIns="0" rtlCol="0" anchor="t"/>
          <a:lstStyle/>
          <a:p>
            <a:pPr algn="l" indent="0" marL="0">
              <a:lnSpc>
                <a:spcPts val="2200"/>
              </a:lnSpc>
              <a:buNone/>
            </a:pPr>
            <a:r>
              <a:rPr lang="en-US" sz="1400" dirty="0">
                <a:solidFill>
                  <a:srgbClr val="4A4A45"/>
                </a:solidFill>
                <a:latin typeface="Lato" pitchFamily="34" charset="0"/>
                <a:ea typeface="Lato" pitchFamily="34" charset="-122"/>
                <a:cs typeface="Lato" pitchFamily="34" charset="-120"/>
              </a:rPr>
              <a:t>These steps improve data quality and model reliability, enabling accurate predictions of passenger satisfaction.</a:t>
            </a:r>
            <a:endParaRPr lang="en-US" sz="1400" dirty="0"/>
          </a:p>
        </p:txBody>
      </p:sp>
      <p:sp>
        <p:nvSpPr>
          <p:cNvPr id="5" name="Shape 3"/>
          <p:cNvSpPr/>
          <p:nvPr/>
        </p:nvSpPr>
        <p:spPr>
          <a:xfrm>
            <a:off x="624959" y="2671286"/>
            <a:ext cx="401717" cy="401717"/>
          </a:xfrm>
          <a:prstGeom prst="roundRect">
            <a:avLst>
              <a:gd name="adj" fmla="val 6668"/>
            </a:avLst>
          </a:prstGeom>
          <a:solidFill>
            <a:srgbClr val="E5DFD2"/>
          </a:solidFill>
          <a:ln/>
        </p:spPr>
      </p:sp>
      <p:sp>
        <p:nvSpPr>
          <p:cNvPr id="6" name="Text 4"/>
          <p:cNvSpPr/>
          <p:nvPr/>
        </p:nvSpPr>
        <p:spPr>
          <a:xfrm>
            <a:off x="1205151" y="2732603"/>
            <a:ext cx="2232184" cy="278963"/>
          </a:xfrm>
          <a:prstGeom prst="rect">
            <a:avLst/>
          </a:prstGeom>
          <a:noFill/>
          <a:ln/>
        </p:spPr>
        <p:txBody>
          <a:bodyPr wrap="none" lIns="0" tIns="0" rIns="0" bIns="0" rtlCol="0" anchor="t"/>
          <a:lstStyle/>
          <a:p>
            <a:pPr algn="l" indent="0" marL="0">
              <a:lnSpc>
                <a:spcPts val="2150"/>
              </a:lnSpc>
              <a:buNone/>
            </a:pPr>
            <a:r>
              <a:rPr lang="en-US" sz="1750" b="1" dirty="0">
                <a:solidFill>
                  <a:srgbClr val="4A4A45"/>
                </a:solidFill>
                <a:latin typeface="Lato Bold" pitchFamily="34" charset="0"/>
                <a:ea typeface="Lato Bold" pitchFamily="34" charset="-122"/>
                <a:cs typeface="Lato Bold" pitchFamily="34" charset="-120"/>
              </a:rPr>
              <a:t>Missing Values</a:t>
            </a:r>
            <a:endParaRPr lang="en-US" sz="1750" dirty="0"/>
          </a:p>
        </p:txBody>
      </p:sp>
      <p:sp>
        <p:nvSpPr>
          <p:cNvPr id="7" name="Text 5"/>
          <p:cNvSpPr/>
          <p:nvPr/>
        </p:nvSpPr>
        <p:spPr>
          <a:xfrm>
            <a:off x="1205151" y="3118604"/>
            <a:ext cx="3731181" cy="571500"/>
          </a:xfrm>
          <a:prstGeom prst="rect">
            <a:avLst/>
          </a:prstGeom>
          <a:noFill/>
          <a:ln/>
        </p:spPr>
        <p:txBody>
          <a:bodyPr wrap="square" lIns="0" tIns="0" rIns="0" bIns="0" rtlCol="0" anchor="t"/>
          <a:lstStyle/>
          <a:p>
            <a:pPr algn="l" indent="0" marL="0">
              <a:lnSpc>
                <a:spcPts val="2200"/>
              </a:lnSpc>
              <a:buNone/>
            </a:pPr>
            <a:r>
              <a:rPr lang="en-US" sz="1400" dirty="0">
                <a:solidFill>
                  <a:srgbClr val="4A4A45"/>
                </a:solidFill>
                <a:latin typeface="Lato" pitchFamily="34" charset="0"/>
                <a:ea typeface="Lato" pitchFamily="34" charset="-122"/>
                <a:cs typeface="Lato" pitchFamily="34" charset="-120"/>
              </a:rPr>
              <a:t>Handled using median imputation for arrival delays</a:t>
            </a:r>
            <a:endParaRPr lang="en-US" sz="1400" dirty="0"/>
          </a:p>
        </p:txBody>
      </p:sp>
      <p:sp>
        <p:nvSpPr>
          <p:cNvPr id="8" name="Shape 6"/>
          <p:cNvSpPr/>
          <p:nvPr/>
        </p:nvSpPr>
        <p:spPr>
          <a:xfrm>
            <a:off x="5159454" y="2671286"/>
            <a:ext cx="401717" cy="401717"/>
          </a:xfrm>
          <a:prstGeom prst="roundRect">
            <a:avLst>
              <a:gd name="adj" fmla="val 6668"/>
            </a:avLst>
          </a:prstGeom>
          <a:solidFill>
            <a:srgbClr val="E5DFD2"/>
          </a:solidFill>
          <a:ln/>
        </p:spPr>
      </p:sp>
      <p:sp>
        <p:nvSpPr>
          <p:cNvPr id="9" name="Text 7"/>
          <p:cNvSpPr/>
          <p:nvPr/>
        </p:nvSpPr>
        <p:spPr>
          <a:xfrm>
            <a:off x="5739646" y="2732603"/>
            <a:ext cx="2232184" cy="278963"/>
          </a:xfrm>
          <a:prstGeom prst="rect">
            <a:avLst/>
          </a:prstGeom>
          <a:noFill/>
          <a:ln/>
        </p:spPr>
        <p:txBody>
          <a:bodyPr wrap="none" lIns="0" tIns="0" rIns="0" bIns="0" rtlCol="0" anchor="t"/>
          <a:lstStyle/>
          <a:p>
            <a:pPr algn="l" indent="0" marL="0">
              <a:lnSpc>
                <a:spcPts val="2150"/>
              </a:lnSpc>
              <a:buNone/>
            </a:pPr>
            <a:r>
              <a:rPr lang="en-US" sz="1750" b="1" dirty="0">
                <a:solidFill>
                  <a:srgbClr val="4A4A45"/>
                </a:solidFill>
                <a:latin typeface="Lato Bold" pitchFamily="34" charset="0"/>
                <a:ea typeface="Lato Bold" pitchFamily="34" charset="-122"/>
                <a:cs typeface="Lato Bold" pitchFamily="34" charset="-120"/>
              </a:rPr>
              <a:t>Encoding</a:t>
            </a:r>
            <a:endParaRPr lang="en-US" sz="1750" dirty="0"/>
          </a:p>
        </p:txBody>
      </p:sp>
      <p:sp>
        <p:nvSpPr>
          <p:cNvPr id="10" name="Text 8"/>
          <p:cNvSpPr/>
          <p:nvPr/>
        </p:nvSpPr>
        <p:spPr>
          <a:xfrm>
            <a:off x="5739646" y="3118604"/>
            <a:ext cx="3731181" cy="285750"/>
          </a:xfrm>
          <a:prstGeom prst="rect">
            <a:avLst/>
          </a:prstGeom>
          <a:noFill/>
          <a:ln/>
        </p:spPr>
        <p:txBody>
          <a:bodyPr wrap="none" lIns="0" tIns="0" rIns="0" bIns="0" rtlCol="0" anchor="t"/>
          <a:lstStyle/>
          <a:p>
            <a:pPr algn="l" indent="0" marL="0">
              <a:lnSpc>
                <a:spcPts val="2200"/>
              </a:lnSpc>
              <a:buNone/>
            </a:pPr>
            <a:r>
              <a:rPr lang="en-US" sz="1400" dirty="0">
                <a:solidFill>
                  <a:srgbClr val="4A4A45"/>
                </a:solidFill>
                <a:latin typeface="Lato" pitchFamily="34" charset="0"/>
                <a:ea typeface="Lato" pitchFamily="34" charset="-122"/>
                <a:cs typeface="Lato" pitchFamily="34" charset="-120"/>
              </a:rPr>
              <a:t>Encoding Categorical Variables</a:t>
            </a:r>
            <a:endParaRPr lang="en-US" sz="1400" dirty="0"/>
          </a:p>
        </p:txBody>
      </p:sp>
      <p:sp>
        <p:nvSpPr>
          <p:cNvPr id="11" name="Text 9"/>
          <p:cNvSpPr/>
          <p:nvPr/>
        </p:nvSpPr>
        <p:spPr>
          <a:xfrm>
            <a:off x="5739646" y="3511391"/>
            <a:ext cx="3731181" cy="1714500"/>
          </a:xfrm>
          <a:prstGeom prst="rect">
            <a:avLst/>
          </a:prstGeom>
          <a:noFill/>
          <a:ln/>
        </p:spPr>
        <p:txBody>
          <a:bodyPr wrap="square" lIns="0" tIns="0" rIns="0" bIns="0" rtlCol="0" anchor="t"/>
          <a:lstStyle/>
          <a:p>
            <a:pPr algn="l" indent="0" marL="0">
              <a:lnSpc>
                <a:spcPts val="2200"/>
              </a:lnSpc>
              <a:buNone/>
            </a:pPr>
            <a:r>
              <a:rPr lang="en-US" sz="1400" dirty="0">
                <a:solidFill>
                  <a:srgbClr val="4A4A45"/>
                </a:solidFill>
                <a:latin typeface="Lato" pitchFamily="34" charset="0"/>
                <a:ea typeface="Lato" pitchFamily="34" charset="-122"/>
                <a:cs typeface="Lato" pitchFamily="34" charset="-120"/>
              </a:rPr>
              <a:t>Machine learning models need numeric values. Columns like Gender, Customer Type, Type of Travel, Class, and Satisfaction were encoded using Label Encoding. This method was chosen because the values had a logical order or binary structure.</a:t>
            </a:r>
            <a:endParaRPr lang="en-US" sz="1400" dirty="0"/>
          </a:p>
        </p:txBody>
      </p:sp>
      <p:sp>
        <p:nvSpPr>
          <p:cNvPr id="12" name="Shape 10"/>
          <p:cNvSpPr/>
          <p:nvPr/>
        </p:nvSpPr>
        <p:spPr>
          <a:xfrm>
            <a:off x="9693950" y="2671286"/>
            <a:ext cx="401717" cy="401717"/>
          </a:xfrm>
          <a:prstGeom prst="roundRect">
            <a:avLst>
              <a:gd name="adj" fmla="val 6668"/>
            </a:avLst>
          </a:prstGeom>
          <a:solidFill>
            <a:srgbClr val="E5DFD2"/>
          </a:solidFill>
          <a:ln/>
        </p:spPr>
      </p:sp>
      <p:sp>
        <p:nvSpPr>
          <p:cNvPr id="13" name="Text 11"/>
          <p:cNvSpPr/>
          <p:nvPr/>
        </p:nvSpPr>
        <p:spPr>
          <a:xfrm>
            <a:off x="10274141" y="2732603"/>
            <a:ext cx="2232184" cy="278963"/>
          </a:xfrm>
          <a:prstGeom prst="rect">
            <a:avLst/>
          </a:prstGeom>
          <a:noFill/>
          <a:ln/>
        </p:spPr>
        <p:txBody>
          <a:bodyPr wrap="none" lIns="0" tIns="0" rIns="0" bIns="0" rtlCol="0" anchor="t"/>
          <a:lstStyle/>
          <a:p>
            <a:pPr algn="l" indent="0" marL="0">
              <a:lnSpc>
                <a:spcPts val="2150"/>
              </a:lnSpc>
              <a:buNone/>
            </a:pPr>
            <a:r>
              <a:rPr lang="en-US" sz="1750" b="1" dirty="0">
                <a:solidFill>
                  <a:srgbClr val="4A4A45"/>
                </a:solidFill>
                <a:latin typeface="Lato Bold" pitchFamily="34" charset="0"/>
                <a:ea typeface="Lato Bold" pitchFamily="34" charset="-122"/>
                <a:cs typeface="Lato Bold" pitchFamily="34" charset="-120"/>
              </a:rPr>
              <a:t>Outliers</a:t>
            </a:r>
            <a:endParaRPr lang="en-US" sz="1750" dirty="0"/>
          </a:p>
        </p:txBody>
      </p:sp>
      <p:sp>
        <p:nvSpPr>
          <p:cNvPr id="14" name="Text 12"/>
          <p:cNvSpPr/>
          <p:nvPr/>
        </p:nvSpPr>
        <p:spPr>
          <a:xfrm>
            <a:off x="10274141" y="3118604"/>
            <a:ext cx="3684270" cy="334804"/>
          </a:xfrm>
          <a:prstGeom prst="rect">
            <a:avLst/>
          </a:prstGeom>
          <a:noFill/>
          <a:ln/>
        </p:spPr>
        <p:txBody>
          <a:bodyPr wrap="none" lIns="0" tIns="0" rIns="0" bIns="0" rtlCol="0" anchor="t"/>
          <a:lstStyle/>
          <a:p>
            <a:pPr algn="l" indent="0" marL="0">
              <a:lnSpc>
                <a:spcPts val="2600"/>
              </a:lnSpc>
              <a:buNone/>
            </a:pPr>
            <a:r>
              <a:rPr lang="en-US" sz="2100" b="1" dirty="0">
                <a:solidFill>
                  <a:srgbClr val="4A4A45"/>
                </a:solidFill>
                <a:latin typeface="Lato Bold" pitchFamily="34" charset="0"/>
                <a:ea typeface="Lato Bold" pitchFamily="34" charset="-122"/>
                <a:cs typeface="Lato Bold" pitchFamily="34" charset="-120"/>
              </a:rPr>
              <a:t>Detecting and Binning Outliers</a:t>
            </a:r>
            <a:endParaRPr lang="en-US" sz="2100" dirty="0"/>
          </a:p>
        </p:txBody>
      </p:sp>
      <p:sp>
        <p:nvSpPr>
          <p:cNvPr id="15" name="Text 13"/>
          <p:cNvSpPr/>
          <p:nvPr/>
        </p:nvSpPr>
        <p:spPr>
          <a:xfrm>
            <a:off x="10274141" y="3560445"/>
            <a:ext cx="3731181" cy="2571750"/>
          </a:xfrm>
          <a:prstGeom prst="rect">
            <a:avLst/>
          </a:prstGeom>
          <a:noFill/>
          <a:ln/>
        </p:spPr>
        <p:txBody>
          <a:bodyPr wrap="square" lIns="0" tIns="0" rIns="0" bIns="0" rtlCol="0" anchor="t"/>
          <a:lstStyle/>
          <a:p>
            <a:pPr algn="l" indent="0" marL="0">
              <a:lnSpc>
                <a:spcPts val="2200"/>
              </a:lnSpc>
              <a:buNone/>
            </a:pPr>
            <a:r>
              <a:rPr lang="en-US" sz="1400" dirty="0">
                <a:solidFill>
                  <a:srgbClr val="4A4A45"/>
                </a:solidFill>
                <a:latin typeface="Lato" pitchFamily="34" charset="0"/>
                <a:ea typeface="Lato" pitchFamily="34" charset="-122"/>
                <a:cs typeface="Lato" pitchFamily="34" charset="-120"/>
              </a:rPr>
              <a:t>Outliers were found in 'Flight Distance', 'Departure Delay in Minutes', and 'Arrival Delay in Minutes'. Instead of removing them (which would reduce data size), we applied binning to simplify and smooth the data. For example, 'Flight Distance' was categorized into 'Short', 'Medium', and 'Long'. Delay columns were grouped into 'On Time', 'Moderate Delay', and 'High Delay'.</a:t>
            </a:r>
            <a:endParaRPr lang="en-US" sz="1400" dirty="0"/>
          </a:p>
        </p:txBody>
      </p:sp>
      <p:sp>
        <p:nvSpPr>
          <p:cNvPr id="16" name="Shape 14"/>
          <p:cNvSpPr/>
          <p:nvPr/>
        </p:nvSpPr>
        <p:spPr>
          <a:xfrm>
            <a:off x="624959" y="6489263"/>
            <a:ext cx="401717" cy="401717"/>
          </a:xfrm>
          <a:prstGeom prst="roundRect">
            <a:avLst>
              <a:gd name="adj" fmla="val 6668"/>
            </a:avLst>
          </a:prstGeom>
          <a:solidFill>
            <a:srgbClr val="E5DFD2"/>
          </a:solidFill>
          <a:ln/>
        </p:spPr>
      </p:sp>
      <p:sp>
        <p:nvSpPr>
          <p:cNvPr id="17" name="Text 15"/>
          <p:cNvSpPr/>
          <p:nvPr/>
        </p:nvSpPr>
        <p:spPr>
          <a:xfrm>
            <a:off x="1205151" y="6522720"/>
            <a:ext cx="3478768" cy="334804"/>
          </a:xfrm>
          <a:prstGeom prst="rect">
            <a:avLst/>
          </a:prstGeom>
          <a:noFill/>
          <a:ln/>
        </p:spPr>
        <p:txBody>
          <a:bodyPr wrap="none" lIns="0" tIns="0" rIns="0" bIns="0" rtlCol="0" anchor="t"/>
          <a:lstStyle/>
          <a:p>
            <a:pPr algn="l" indent="0" marL="0">
              <a:lnSpc>
                <a:spcPts val="2600"/>
              </a:lnSpc>
              <a:buNone/>
            </a:pPr>
            <a:r>
              <a:rPr lang="en-US" sz="2100" b="1" dirty="0">
                <a:solidFill>
                  <a:srgbClr val="4A4A45"/>
                </a:solidFill>
                <a:latin typeface="Lato Bold" pitchFamily="34" charset="0"/>
                <a:ea typeface="Lato Bold" pitchFamily="34" charset="-122"/>
                <a:cs typeface="Lato Bold" pitchFamily="34" charset="-120"/>
              </a:rPr>
              <a:t>Dropping Irrelevant Columns</a:t>
            </a:r>
            <a:endParaRPr lang="en-US" sz="2100" dirty="0"/>
          </a:p>
        </p:txBody>
      </p:sp>
      <p:sp>
        <p:nvSpPr>
          <p:cNvPr id="18" name="Text 16"/>
          <p:cNvSpPr/>
          <p:nvPr/>
        </p:nvSpPr>
        <p:spPr>
          <a:xfrm>
            <a:off x="1205151" y="6964561"/>
            <a:ext cx="12800290" cy="285750"/>
          </a:xfrm>
          <a:prstGeom prst="rect">
            <a:avLst/>
          </a:prstGeom>
          <a:noFill/>
          <a:ln/>
        </p:spPr>
        <p:txBody>
          <a:bodyPr wrap="none" lIns="0" tIns="0" rIns="0" bIns="0" rtlCol="0" anchor="t"/>
          <a:lstStyle/>
          <a:p>
            <a:pPr algn="l" indent="0" marL="0">
              <a:lnSpc>
                <a:spcPts val="2200"/>
              </a:lnSpc>
              <a:buNone/>
            </a:pPr>
            <a:r>
              <a:rPr lang="en-US" sz="1400" dirty="0">
                <a:solidFill>
                  <a:srgbClr val="4A4A45"/>
                </a:solidFill>
                <a:latin typeface="Lato" pitchFamily="34" charset="0"/>
                <a:ea typeface="Lato" pitchFamily="34" charset="-122"/>
                <a:cs typeface="Lato" pitchFamily="34" charset="-120"/>
              </a:rPr>
              <a:t>Columns like 'id' and 'Unnamed: 0' do not help in analysis or prediction. These were removed to avoid unnecessary noise in the data.</a:t>
            </a:r>
            <a:endParaRPr lang="en-US" sz="1400" dirty="0"/>
          </a:p>
        </p:txBody>
      </p:sp>
      <p:sp>
        <p:nvSpPr>
          <p:cNvPr id="19" name="Text 17"/>
          <p:cNvSpPr/>
          <p:nvPr/>
        </p:nvSpPr>
        <p:spPr>
          <a:xfrm>
            <a:off x="1205151" y="7357348"/>
            <a:ext cx="12800290" cy="285750"/>
          </a:xfrm>
          <a:prstGeom prst="rect">
            <a:avLst/>
          </a:prstGeom>
          <a:noFill/>
          <a:ln/>
        </p:spPr>
        <p:txBody>
          <a:bodyPr wrap="none" lIns="0" tIns="0" rIns="0" bIns="0" rtlCol="0" anchor="t"/>
          <a:lstStyle/>
          <a:p>
            <a:pPr algn="l" indent="0" marL="0">
              <a:lnSpc>
                <a:spcPts val="2200"/>
              </a:lnSpc>
              <a:buNone/>
            </a:pP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27607" y="2640092"/>
            <a:ext cx="4919186" cy="2949297"/>
          </a:xfrm>
          <a:prstGeom prst="rect">
            <a:avLst/>
          </a:prstGeom>
        </p:spPr>
      </p:pic>
      <p:sp>
        <p:nvSpPr>
          <p:cNvPr id="4" name="Text 0"/>
          <p:cNvSpPr/>
          <p:nvPr/>
        </p:nvSpPr>
        <p:spPr>
          <a:xfrm>
            <a:off x="793790" y="2555438"/>
            <a:ext cx="7122081" cy="708779"/>
          </a:xfrm>
          <a:prstGeom prst="rect">
            <a:avLst/>
          </a:prstGeom>
          <a:noFill/>
          <a:ln/>
        </p:spPr>
        <p:txBody>
          <a:bodyPr wrap="none" lIns="0" tIns="0" rIns="0" bIns="0" rtlCol="0" anchor="t"/>
          <a:lstStyle/>
          <a:p>
            <a:pPr algn="l" indent="0" marL="0">
              <a:lnSpc>
                <a:spcPts val="5550"/>
              </a:lnSpc>
              <a:buNone/>
            </a:pPr>
            <a:r>
              <a:rPr lang="en-US" sz="4450" b="1" dirty="0">
                <a:solidFill>
                  <a:srgbClr val="282824"/>
                </a:solidFill>
                <a:latin typeface="Lato Bold" pitchFamily="34" charset="0"/>
                <a:ea typeface="Lato Bold" pitchFamily="34" charset="-122"/>
                <a:cs typeface="Lato Bold" pitchFamily="34" charset="-120"/>
              </a:rPr>
              <a:t>Feature Importance Insights</a:t>
            </a:r>
            <a:endParaRPr lang="en-US" sz="4450" dirty="0"/>
          </a:p>
        </p:txBody>
      </p:sp>
      <p:sp>
        <p:nvSpPr>
          <p:cNvPr id="5" name="Text 1"/>
          <p:cNvSpPr/>
          <p:nvPr/>
        </p:nvSpPr>
        <p:spPr>
          <a:xfrm>
            <a:off x="793790" y="3604379"/>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LASSO identified key features impacting passenger satisfaction by assigning coefficients. Non-zero coefficients indicate significant features, such as Customer Type, Type of Travel, Online Boarding, and Inflight Wifi Service.</a:t>
            </a:r>
            <a:endParaRPr lang="en-US" sz="1750" dirty="0"/>
          </a:p>
        </p:txBody>
      </p:sp>
      <p:sp>
        <p:nvSpPr>
          <p:cNvPr id="6" name="Text 2"/>
          <p:cNvSpPr/>
          <p:nvPr/>
        </p:nvSpPr>
        <p:spPr>
          <a:xfrm>
            <a:off x="793790" y="494823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Understanding these features helps tailor improvements to enhance satisfaction effectively.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96835" y="439341"/>
            <a:ext cx="6921103" cy="4152662"/>
          </a:xfrm>
          <a:prstGeom prst="rect">
            <a:avLst/>
          </a:prstGeom>
        </p:spPr>
      </p:pic>
      <p:sp>
        <p:nvSpPr>
          <p:cNvPr id="3" name="Text 0"/>
          <p:cNvSpPr/>
          <p:nvPr/>
        </p:nvSpPr>
        <p:spPr>
          <a:xfrm>
            <a:off x="7602260" y="413861"/>
            <a:ext cx="6638806" cy="181451"/>
          </a:xfrm>
          <a:prstGeom prst="rect">
            <a:avLst/>
          </a:prstGeom>
          <a:noFill/>
          <a:ln/>
        </p:spPr>
        <p:txBody>
          <a:bodyPr wrap="none" lIns="0" tIns="0" rIns="0" bIns="0" rtlCol="0" anchor="t"/>
          <a:lstStyle/>
          <a:p>
            <a:pPr algn="l" indent="0" marL="0">
              <a:lnSpc>
                <a:spcPts val="1400"/>
              </a:lnSpc>
              <a:buNone/>
            </a:pPr>
            <a:endParaRPr lang="en-US" sz="850" dirty="0"/>
          </a:p>
        </p:txBody>
      </p:sp>
      <p:pic>
        <p:nvPicPr>
          <p:cNvPr id="4" name="Image 1" descr="preencoded.png">    </p:cNvPr>
          <p:cNvPicPr>
            <a:picLocks noChangeAspect="1"/>
          </p:cNvPicPr>
          <p:nvPr/>
        </p:nvPicPr>
        <p:blipFill>
          <a:blip r:embed="rId2"/>
          <a:stretch>
            <a:fillRect/>
          </a:stretch>
        </p:blipFill>
        <p:spPr>
          <a:xfrm>
            <a:off x="7602260" y="722828"/>
            <a:ext cx="6638806" cy="3983236"/>
          </a:xfrm>
          <a:prstGeom prst="rect">
            <a:avLst/>
          </a:prstGeom>
        </p:spPr>
      </p:pic>
      <p:sp>
        <p:nvSpPr>
          <p:cNvPr id="5" name="Text 1"/>
          <p:cNvSpPr/>
          <p:nvPr/>
        </p:nvSpPr>
        <p:spPr>
          <a:xfrm>
            <a:off x="396835" y="5063133"/>
            <a:ext cx="6921103" cy="181451"/>
          </a:xfrm>
          <a:prstGeom prst="rect">
            <a:avLst/>
          </a:prstGeom>
          <a:noFill/>
          <a:ln/>
        </p:spPr>
        <p:txBody>
          <a:bodyPr wrap="none" lIns="0" tIns="0" rIns="0" bIns="0" rtlCol="0" anchor="t"/>
          <a:lstStyle/>
          <a:p>
            <a:pPr algn="l" indent="0" marL="0">
              <a:lnSpc>
                <a:spcPts val="1400"/>
              </a:lnSpc>
              <a:buNone/>
            </a:pPr>
            <a:endParaRPr lang="en-US" sz="850" dirty="0"/>
          </a:p>
        </p:txBody>
      </p:sp>
      <p:pic>
        <p:nvPicPr>
          <p:cNvPr id="6" name="Image 2" descr="preencoded.png">    </p:cNvPr>
          <p:cNvPicPr>
            <a:picLocks noChangeAspect="1"/>
          </p:cNvPicPr>
          <p:nvPr/>
        </p:nvPicPr>
        <p:blipFill>
          <a:blip r:embed="rId3"/>
          <a:stretch>
            <a:fillRect/>
          </a:stretch>
        </p:blipFill>
        <p:spPr>
          <a:xfrm>
            <a:off x="396835" y="5372100"/>
            <a:ext cx="3118842" cy="1871305"/>
          </a:xfrm>
          <a:prstGeom prst="rect">
            <a:avLst/>
          </a:prstGeom>
        </p:spPr>
      </p:pic>
      <p:sp>
        <p:nvSpPr>
          <p:cNvPr id="7" name="Text 2"/>
          <p:cNvSpPr/>
          <p:nvPr/>
        </p:nvSpPr>
        <p:spPr>
          <a:xfrm>
            <a:off x="7602260" y="5063133"/>
            <a:ext cx="6638806" cy="181451"/>
          </a:xfrm>
          <a:prstGeom prst="rect">
            <a:avLst/>
          </a:prstGeom>
          <a:noFill/>
          <a:ln/>
        </p:spPr>
        <p:txBody>
          <a:bodyPr wrap="none" lIns="0" tIns="0" rIns="0" bIns="0" rtlCol="0" anchor="t"/>
          <a:lstStyle/>
          <a:p>
            <a:pPr algn="l" indent="0" marL="0">
              <a:lnSpc>
                <a:spcPts val="1400"/>
              </a:lnSpc>
              <a:buNone/>
            </a:pPr>
            <a:endParaRPr lang="en-US" sz="850" dirty="0"/>
          </a:p>
        </p:txBody>
      </p:sp>
      <p:pic>
        <p:nvPicPr>
          <p:cNvPr id="8" name="Image 3" descr="preencoded.png">    </p:cNvPr>
          <p:cNvPicPr>
            <a:picLocks noChangeAspect="1"/>
          </p:cNvPicPr>
          <p:nvPr/>
        </p:nvPicPr>
        <p:blipFill>
          <a:blip r:embed="rId4"/>
          <a:stretch>
            <a:fillRect/>
          </a:stretch>
        </p:blipFill>
        <p:spPr>
          <a:xfrm>
            <a:off x="7602260" y="5372100"/>
            <a:ext cx="3131463" cy="1878806"/>
          </a:xfrm>
          <a:prstGeom prst="rect">
            <a:avLst/>
          </a:prstGeom>
        </p:spPr>
      </p:pic>
      <p:pic>
        <p:nvPicPr>
          <p:cNvPr id="9" name="Image 4" descr="preencoded.png">    </p:cNvPr>
          <p:cNvPicPr>
            <a:picLocks noChangeAspect="1"/>
          </p:cNvPicPr>
          <p:nvPr/>
        </p:nvPicPr>
        <p:blipFill>
          <a:blip r:embed="rId5"/>
          <a:stretch>
            <a:fillRect/>
          </a:stretch>
        </p:blipFill>
        <p:spPr>
          <a:xfrm>
            <a:off x="396835" y="7633454"/>
            <a:ext cx="6638806" cy="3983236"/>
          </a:xfrm>
          <a:prstGeom prst="rect">
            <a:avLst/>
          </a:prstGeom>
        </p:spPr>
      </p:pic>
      <p:pic>
        <p:nvPicPr>
          <p:cNvPr id="10" name="Image 5" descr="preencoded.png">    </p:cNvPr>
          <p:cNvPicPr>
            <a:picLocks noChangeAspect="1"/>
          </p:cNvPicPr>
          <p:nvPr/>
        </p:nvPicPr>
        <p:blipFill>
          <a:blip r:embed="rId6"/>
          <a:stretch>
            <a:fillRect/>
          </a:stretch>
        </p:blipFill>
        <p:spPr>
          <a:xfrm>
            <a:off x="7319963" y="7633454"/>
            <a:ext cx="6921103" cy="4152662"/>
          </a:xfrm>
          <a:prstGeom prst="rect">
            <a:avLst/>
          </a:prstGeom>
        </p:spPr>
      </p:pic>
      <p:pic>
        <p:nvPicPr>
          <p:cNvPr id="11" name="Image 6" descr="preencoded.png">    </p:cNvPr>
          <p:cNvPicPr>
            <a:picLocks noChangeAspect="1"/>
          </p:cNvPicPr>
          <p:nvPr/>
        </p:nvPicPr>
        <p:blipFill>
          <a:blip r:embed="rId7"/>
          <a:stretch>
            <a:fillRect/>
          </a:stretch>
        </p:blipFill>
        <p:spPr>
          <a:xfrm>
            <a:off x="396835" y="12168664"/>
            <a:ext cx="6638806" cy="3983236"/>
          </a:xfrm>
          <a:prstGeom prst="rect">
            <a:avLst/>
          </a:prstGeom>
        </p:spPr>
      </p:pic>
      <p:sp>
        <p:nvSpPr>
          <p:cNvPr id="12" name="Text 3"/>
          <p:cNvSpPr/>
          <p:nvPr/>
        </p:nvSpPr>
        <p:spPr>
          <a:xfrm>
            <a:off x="7319963" y="12143184"/>
            <a:ext cx="6921103" cy="181451"/>
          </a:xfrm>
          <a:prstGeom prst="rect">
            <a:avLst/>
          </a:prstGeom>
          <a:noFill/>
          <a:ln/>
        </p:spPr>
        <p:txBody>
          <a:bodyPr wrap="none" lIns="0" tIns="0" rIns="0" bIns="0" rtlCol="0" anchor="t"/>
          <a:lstStyle/>
          <a:p>
            <a:pPr algn="l" indent="0" marL="0">
              <a:lnSpc>
                <a:spcPts val="1400"/>
              </a:lnSpc>
              <a:buNone/>
            </a:pPr>
            <a:endParaRPr lang="en-US" sz="850" dirty="0"/>
          </a:p>
        </p:txBody>
      </p:sp>
      <p:pic>
        <p:nvPicPr>
          <p:cNvPr id="13" name="Image 7" descr="preencoded.png">    </p:cNvPr>
          <p:cNvPicPr>
            <a:picLocks noChangeAspect="1"/>
          </p:cNvPicPr>
          <p:nvPr/>
        </p:nvPicPr>
        <p:blipFill>
          <a:blip r:embed="rId8"/>
          <a:stretch>
            <a:fillRect/>
          </a:stretch>
        </p:blipFill>
        <p:spPr>
          <a:xfrm>
            <a:off x="7319963" y="12452152"/>
            <a:ext cx="3144083" cy="1886426"/>
          </a:xfrm>
          <a:prstGeom prst="rect">
            <a:avLst/>
          </a:prstGeom>
        </p:spPr>
      </p:pic>
      <p:pic>
        <p:nvPicPr>
          <p:cNvPr id="14" name="Image 8" descr="preencoded.png">    </p:cNvPr>
          <p:cNvPicPr>
            <a:picLocks noChangeAspect="1"/>
          </p:cNvPicPr>
          <p:nvPr/>
        </p:nvPicPr>
        <p:blipFill>
          <a:blip r:embed="rId9"/>
          <a:stretch>
            <a:fillRect/>
          </a:stretch>
        </p:blipFill>
        <p:spPr>
          <a:xfrm>
            <a:off x="396835" y="16534448"/>
            <a:ext cx="6638806" cy="3983236"/>
          </a:xfrm>
          <a:prstGeom prst="rect">
            <a:avLst/>
          </a:prstGeom>
        </p:spPr>
      </p:pic>
      <p:pic>
        <p:nvPicPr>
          <p:cNvPr id="15" name="Image 9" descr="preencoded.png">    </p:cNvPr>
          <p:cNvPicPr>
            <a:picLocks noChangeAspect="1"/>
          </p:cNvPicPr>
          <p:nvPr/>
        </p:nvPicPr>
        <p:blipFill>
          <a:blip r:embed="rId10"/>
          <a:stretch>
            <a:fillRect/>
          </a:stretch>
        </p:blipFill>
        <p:spPr>
          <a:xfrm>
            <a:off x="7319963" y="16534448"/>
            <a:ext cx="6921103" cy="4152662"/>
          </a:xfrm>
          <a:prstGeom prst="rect">
            <a:avLst/>
          </a:prstGeom>
        </p:spPr>
      </p:pic>
      <p:pic>
        <p:nvPicPr>
          <p:cNvPr id="16" name="Image 10" descr="preencoded.png">    </p:cNvPr>
          <p:cNvPicPr>
            <a:picLocks noChangeAspect="1"/>
          </p:cNvPicPr>
          <p:nvPr/>
        </p:nvPicPr>
        <p:blipFill>
          <a:blip r:embed="rId11"/>
          <a:stretch>
            <a:fillRect/>
          </a:stretch>
        </p:blipFill>
        <p:spPr>
          <a:xfrm>
            <a:off x="396835" y="21069657"/>
            <a:ext cx="6497717" cy="3898582"/>
          </a:xfrm>
          <a:prstGeom prst="rect">
            <a:avLst/>
          </a:prstGeom>
        </p:spPr>
      </p:pic>
      <p:pic>
        <p:nvPicPr>
          <p:cNvPr id="17" name="Image 11" descr="preencoded.png">    </p:cNvPr>
          <p:cNvPicPr>
            <a:picLocks noChangeAspect="1"/>
          </p:cNvPicPr>
          <p:nvPr/>
        </p:nvPicPr>
        <p:blipFill>
          <a:blip r:embed="rId12"/>
          <a:stretch>
            <a:fillRect/>
          </a:stretch>
        </p:blipFill>
        <p:spPr>
          <a:xfrm>
            <a:off x="7178873" y="21069657"/>
            <a:ext cx="7062192" cy="4237315"/>
          </a:xfrm>
          <a:prstGeom prst="rect">
            <a:avLst/>
          </a:prstGeom>
        </p:spPr>
      </p:pic>
      <p:pic>
        <p:nvPicPr>
          <p:cNvPr id="18" name="Image 12" descr="preencoded.png">    </p:cNvPr>
          <p:cNvPicPr>
            <a:picLocks noChangeAspect="1"/>
          </p:cNvPicPr>
          <p:nvPr/>
        </p:nvPicPr>
        <p:blipFill>
          <a:blip r:embed="rId13"/>
          <a:stretch>
            <a:fillRect/>
          </a:stretch>
        </p:blipFill>
        <p:spPr>
          <a:xfrm>
            <a:off x="396835" y="25689520"/>
            <a:ext cx="6497717" cy="3898582"/>
          </a:xfrm>
          <a:prstGeom prst="rect">
            <a:avLst/>
          </a:prstGeom>
        </p:spPr>
      </p:pic>
      <p:pic>
        <p:nvPicPr>
          <p:cNvPr id="19" name="Image 13" descr="preencoded.png">    </p:cNvPr>
          <p:cNvPicPr>
            <a:picLocks noChangeAspect="1"/>
          </p:cNvPicPr>
          <p:nvPr/>
        </p:nvPicPr>
        <p:blipFill>
          <a:blip r:embed="rId14"/>
          <a:stretch>
            <a:fillRect/>
          </a:stretch>
        </p:blipFill>
        <p:spPr>
          <a:xfrm>
            <a:off x="7178873" y="25689520"/>
            <a:ext cx="7062192" cy="4237315"/>
          </a:xfrm>
          <a:prstGeom prst="rect">
            <a:avLst/>
          </a:prstGeom>
        </p:spPr>
      </p:pic>
      <p:pic>
        <p:nvPicPr>
          <p:cNvPr id="20" name="Image 14" descr="preencoded.png">    </p:cNvPr>
          <p:cNvPicPr>
            <a:picLocks noChangeAspect="1"/>
          </p:cNvPicPr>
          <p:nvPr/>
        </p:nvPicPr>
        <p:blipFill>
          <a:blip r:embed="rId15"/>
          <a:stretch>
            <a:fillRect/>
          </a:stretch>
        </p:blipFill>
        <p:spPr>
          <a:xfrm>
            <a:off x="396835" y="30309383"/>
            <a:ext cx="6497717" cy="3898582"/>
          </a:xfrm>
          <a:prstGeom prst="rect">
            <a:avLst/>
          </a:prstGeom>
        </p:spPr>
      </p:pic>
      <p:pic>
        <p:nvPicPr>
          <p:cNvPr id="21" name="Image 15" descr="preencoded.png">    </p:cNvPr>
          <p:cNvPicPr>
            <a:picLocks noChangeAspect="1"/>
          </p:cNvPicPr>
          <p:nvPr/>
        </p:nvPicPr>
        <p:blipFill>
          <a:blip r:embed="rId16"/>
          <a:stretch>
            <a:fillRect/>
          </a:stretch>
        </p:blipFill>
        <p:spPr>
          <a:xfrm>
            <a:off x="7178873" y="30309383"/>
            <a:ext cx="7062192" cy="4237315"/>
          </a:xfrm>
          <a:prstGeom prst="rect">
            <a:avLst/>
          </a:prstGeom>
        </p:spPr>
      </p:pic>
      <p:sp>
        <p:nvSpPr>
          <p:cNvPr id="22" name="Text 4"/>
          <p:cNvSpPr/>
          <p:nvPr/>
        </p:nvSpPr>
        <p:spPr>
          <a:xfrm>
            <a:off x="396835" y="34844236"/>
            <a:ext cx="2835235" cy="354330"/>
          </a:xfrm>
          <a:prstGeom prst="rect">
            <a:avLst/>
          </a:prstGeom>
          <a:noFill/>
          <a:ln/>
        </p:spPr>
        <p:txBody>
          <a:bodyPr wrap="none" lIns="0" tIns="0" rIns="0" bIns="0" rtlCol="0" anchor="t"/>
          <a:lstStyle/>
          <a:p>
            <a:pPr algn="l" indent="0" marL="0">
              <a:lnSpc>
                <a:spcPts val="2750"/>
              </a:lnSpc>
              <a:buNone/>
            </a:pP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6835" y="311825"/>
            <a:ext cx="4181356" cy="354330"/>
          </a:xfrm>
          <a:prstGeom prst="rect">
            <a:avLst/>
          </a:prstGeom>
          <a:noFill/>
          <a:ln/>
        </p:spPr>
        <p:txBody>
          <a:bodyPr wrap="none" lIns="0" tIns="0" rIns="0" bIns="0" rtlCol="0" anchor="t"/>
          <a:lstStyle/>
          <a:p>
            <a:pPr algn="l" indent="0" marL="0">
              <a:lnSpc>
                <a:spcPts val="2750"/>
              </a:lnSpc>
              <a:buNone/>
            </a:pPr>
            <a:r>
              <a:rPr lang="en-US" sz="2200" b="1" dirty="0">
                <a:solidFill>
                  <a:srgbClr val="282824"/>
                </a:solidFill>
                <a:latin typeface="Lato Bold" pitchFamily="34" charset="0"/>
                <a:ea typeface="Lato Bold" pitchFamily="34" charset="-122"/>
                <a:cs typeface="Lato Bold" pitchFamily="34" charset="-120"/>
              </a:rPr>
              <a:t>Key Features and Interpretations</a:t>
            </a:r>
            <a:endParaRPr lang="en-US" sz="2200" dirty="0"/>
          </a:p>
        </p:txBody>
      </p:sp>
      <p:pic>
        <p:nvPicPr>
          <p:cNvPr id="3" name="Image 0" descr="preencoded.png">    </p:cNvPr>
          <p:cNvPicPr>
            <a:picLocks noChangeAspect="1"/>
          </p:cNvPicPr>
          <p:nvPr/>
        </p:nvPicPr>
        <p:blipFill>
          <a:blip r:embed="rId1"/>
          <a:stretch>
            <a:fillRect/>
          </a:stretch>
        </p:blipFill>
        <p:spPr>
          <a:xfrm>
            <a:off x="396835" y="892969"/>
            <a:ext cx="3352919" cy="2072164"/>
          </a:xfrm>
          <a:prstGeom prst="rect">
            <a:avLst/>
          </a:prstGeom>
        </p:spPr>
      </p:pic>
      <p:sp>
        <p:nvSpPr>
          <p:cNvPr id="4" name="Text 1"/>
          <p:cNvSpPr/>
          <p:nvPr/>
        </p:nvSpPr>
        <p:spPr>
          <a:xfrm>
            <a:off x="396835" y="3106817"/>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Customer Type</a:t>
            </a:r>
            <a:endParaRPr lang="en-US" sz="1100" dirty="0"/>
          </a:p>
        </p:txBody>
      </p:sp>
      <p:sp>
        <p:nvSpPr>
          <p:cNvPr id="5" name="Text 2"/>
          <p:cNvSpPr/>
          <p:nvPr/>
        </p:nvSpPr>
        <p:spPr>
          <a:xfrm>
            <a:off x="396835" y="3351967"/>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Frequent flyers tend to be loyal customers</a:t>
            </a:r>
            <a:endParaRPr lang="en-US" sz="850" dirty="0"/>
          </a:p>
        </p:txBody>
      </p:sp>
      <p:pic>
        <p:nvPicPr>
          <p:cNvPr id="6" name="Image 1" descr="preencoded.png">    </p:cNvPr>
          <p:cNvPicPr>
            <a:picLocks noChangeAspect="1"/>
          </p:cNvPicPr>
          <p:nvPr/>
        </p:nvPicPr>
        <p:blipFill>
          <a:blip r:embed="rId2"/>
          <a:stretch>
            <a:fillRect/>
          </a:stretch>
        </p:blipFill>
        <p:spPr>
          <a:xfrm>
            <a:off x="3891439" y="892969"/>
            <a:ext cx="3352919" cy="2072164"/>
          </a:xfrm>
          <a:prstGeom prst="rect">
            <a:avLst/>
          </a:prstGeom>
        </p:spPr>
      </p:pic>
      <p:sp>
        <p:nvSpPr>
          <p:cNvPr id="7" name="Text 3"/>
          <p:cNvSpPr/>
          <p:nvPr/>
        </p:nvSpPr>
        <p:spPr>
          <a:xfrm>
            <a:off x="3891439" y="3106817"/>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Type of Travel</a:t>
            </a:r>
            <a:endParaRPr lang="en-US" sz="1100" dirty="0"/>
          </a:p>
        </p:txBody>
      </p:sp>
      <p:sp>
        <p:nvSpPr>
          <p:cNvPr id="8" name="Text 4"/>
          <p:cNvSpPr/>
          <p:nvPr/>
        </p:nvSpPr>
        <p:spPr>
          <a:xfrm>
            <a:off x="3891439" y="3351967"/>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Business travelers show higher satisfaction</a:t>
            </a:r>
            <a:endParaRPr lang="en-US" sz="850" dirty="0"/>
          </a:p>
        </p:txBody>
      </p:sp>
      <p:pic>
        <p:nvPicPr>
          <p:cNvPr id="9" name="Image 2" descr="preencoded.png">    </p:cNvPr>
          <p:cNvPicPr>
            <a:picLocks noChangeAspect="1"/>
          </p:cNvPicPr>
          <p:nvPr/>
        </p:nvPicPr>
        <p:blipFill>
          <a:blip r:embed="rId3"/>
          <a:stretch>
            <a:fillRect/>
          </a:stretch>
        </p:blipFill>
        <p:spPr>
          <a:xfrm>
            <a:off x="7386042" y="892969"/>
            <a:ext cx="3352919" cy="2072164"/>
          </a:xfrm>
          <a:prstGeom prst="rect">
            <a:avLst/>
          </a:prstGeom>
        </p:spPr>
      </p:pic>
      <p:sp>
        <p:nvSpPr>
          <p:cNvPr id="10" name="Text 5"/>
          <p:cNvSpPr/>
          <p:nvPr/>
        </p:nvSpPr>
        <p:spPr>
          <a:xfrm>
            <a:off x="7386042" y="3106817"/>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Class</a:t>
            </a:r>
            <a:endParaRPr lang="en-US" sz="1100" dirty="0"/>
          </a:p>
        </p:txBody>
      </p:sp>
      <p:sp>
        <p:nvSpPr>
          <p:cNvPr id="11" name="Text 6"/>
          <p:cNvSpPr/>
          <p:nvPr/>
        </p:nvSpPr>
        <p:spPr>
          <a:xfrm>
            <a:off x="7386042" y="3351967"/>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Higher class leads to more satisfaction</a:t>
            </a:r>
            <a:endParaRPr lang="en-US" sz="850" dirty="0"/>
          </a:p>
        </p:txBody>
      </p:sp>
      <p:pic>
        <p:nvPicPr>
          <p:cNvPr id="12" name="Image 3" descr="preencoded.png">    </p:cNvPr>
          <p:cNvPicPr>
            <a:picLocks noChangeAspect="1"/>
          </p:cNvPicPr>
          <p:nvPr/>
        </p:nvPicPr>
        <p:blipFill>
          <a:blip r:embed="rId4"/>
          <a:stretch>
            <a:fillRect/>
          </a:stretch>
        </p:blipFill>
        <p:spPr>
          <a:xfrm>
            <a:off x="10880646" y="892969"/>
            <a:ext cx="3352919" cy="2072164"/>
          </a:xfrm>
          <a:prstGeom prst="rect">
            <a:avLst/>
          </a:prstGeom>
        </p:spPr>
      </p:pic>
      <p:sp>
        <p:nvSpPr>
          <p:cNvPr id="13" name="Text 7"/>
          <p:cNvSpPr/>
          <p:nvPr/>
        </p:nvSpPr>
        <p:spPr>
          <a:xfrm>
            <a:off x="10880646" y="3106817"/>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Flight Distance</a:t>
            </a:r>
            <a:endParaRPr lang="en-US" sz="1100" dirty="0"/>
          </a:p>
        </p:txBody>
      </p:sp>
      <p:sp>
        <p:nvSpPr>
          <p:cNvPr id="14" name="Text 8"/>
          <p:cNvSpPr/>
          <p:nvPr/>
        </p:nvSpPr>
        <p:spPr>
          <a:xfrm>
            <a:off x="10880646" y="3351967"/>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Longer flights correlate with lower satisfaction</a:t>
            </a:r>
            <a:endParaRPr lang="en-US" sz="850" dirty="0"/>
          </a:p>
        </p:txBody>
      </p:sp>
      <p:pic>
        <p:nvPicPr>
          <p:cNvPr id="15" name="Image 4" descr="preencoded.png">    </p:cNvPr>
          <p:cNvPicPr>
            <a:picLocks noChangeAspect="1"/>
          </p:cNvPicPr>
          <p:nvPr/>
        </p:nvPicPr>
        <p:blipFill>
          <a:blip r:embed="rId5"/>
          <a:stretch>
            <a:fillRect/>
          </a:stretch>
        </p:blipFill>
        <p:spPr>
          <a:xfrm>
            <a:off x="396835" y="3760232"/>
            <a:ext cx="3352919" cy="2072164"/>
          </a:xfrm>
          <a:prstGeom prst="rect">
            <a:avLst/>
          </a:prstGeom>
        </p:spPr>
      </p:pic>
      <p:sp>
        <p:nvSpPr>
          <p:cNvPr id="16" name="Text 9"/>
          <p:cNvSpPr/>
          <p:nvPr/>
        </p:nvSpPr>
        <p:spPr>
          <a:xfrm>
            <a:off x="396835" y="5974080"/>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Inflight Wifi Services</a:t>
            </a:r>
            <a:endParaRPr lang="en-US" sz="1100" dirty="0"/>
          </a:p>
        </p:txBody>
      </p:sp>
      <p:sp>
        <p:nvSpPr>
          <p:cNvPr id="17" name="Text 10"/>
          <p:cNvSpPr/>
          <p:nvPr/>
        </p:nvSpPr>
        <p:spPr>
          <a:xfrm>
            <a:off x="396835" y="6219230"/>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Better wifi improves satisfaction</a:t>
            </a:r>
            <a:endParaRPr lang="en-US" sz="850" dirty="0"/>
          </a:p>
        </p:txBody>
      </p:sp>
      <p:pic>
        <p:nvPicPr>
          <p:cNvPr id="18" name="Image 5" descr="preencoded.png">    </p:cNvPr>
          <p:cNvPicPr>
            <a:picLocks noChangeAspect="1"/>
          </p:cNvPicPr>
          <p:nvPr/>
        </p:nvPicPr>
        <p:blipFill>
          <a:blip r:embed="rId6"/>
          <a:stretch>
            <a:fillRect/>
          </a:stretch>
        </p:blipFill>
        <p:spPr>
          <a:xfrm>
            <a:off x="3891439" y="3760232"/>
            <a:ext cx="3352919" cy="2072164"/>
          </a:xfrm>
          <a:prstGeom prst="rect">
            <a:avLst/>
          </a:prstGeom>
        </p:spPr>
      </p:pic>
      <p:sp>
        <p:nvSpPr>
          <p:cNvPr id="19" name="Text 11"/>
          <p:cNvSpPr/>
          <p:nvPr/>
        </p:nvSpPr>
        <p:spPr>
          <a:xfrm>
            <a:off x="3891439" y="5974080"/>
            <a:ext cx="2196703"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Departure/Arrival time convenient</a:t>
            </a:r>
            <a:endParaRPr lang="en-US" sz="1100" dirty="0"/>
          </a:p>
        </p:txBody>
      </p:sp>
      <p:sp>
        <p:nvSpPr>
          <p:cNvPr id="20" name="Text 12"/>
          <p:cNvSpPr/>
          <p:nvPr/>
        </p:nvSpPr>
        <p:spPr>
          <a:xfrm>
            <a:off x="3891439" y="6219230"/>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Poor timing affects satisfaction</a:t>
            </a:r>
            <a:endParaRPr lang="en-US" sz="850" dirty="0"/>
          </a:p>
        </p:txBody>
      </p:sp>
      <p:pic>
        <p:nvPicPr>
          <p:cNvPr id="21" name="Image 6" descr="preencoded.png">    </p:cNvPr>
          <p:cNvPicPr>
            <a:picLocks noChangeAspect="1"/>
          </p:cNvPicPr>
          <p:nvPr/>
        </p:nvPicPr>
        <p:blipFill>
          <a:blip r:embed="rId7"/>
          <a:stretch>
            <a:fillRect/>
          </a:stretch>
        </p:blipFill>
        <p:spPr>
          <a:xfrm>
            <a:off x="7386042" y="3760232"/>
            <a:ext cx="3352919" cy="2072164"/>
          </a:xfrm>
          <a:prstGeom prst="rect">
            <a:avLst/>
          </a:prstGeom>
        </p:spPr>
      </p:pic>
      <p:sp>
        <p:nvSpPr>
          <p:cNvPr id="22" name="Text 13"/>
          <p:cNvSpPr/>
          <p:nvPr/>
        </p:nvSpPr>
        <p:spPr>
          <a:xfrm>
            <a:off x="7386042" y="5974080"/>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Online Booking</a:t>
            </a:r>
            <a:endParaRPr lang="en-US" sz="1100" dirty="0"/>
          </a:p>
        </p:txBody>
      </p:sp>
      <p:sp>
        <p:nvSpPr>
          <p:cNvPr id="23" name="Text 14"/>
          <p:cNvSpPr/>
          <p:nvPr/>
        </p:nvSpPr>
        <p:spPr>
          <a:xfrm>
            <a:off x="7386042" y="6219230"/>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Easy booking boosts satisfaction</a:t>
            </a:r>
            <a:endParaRPr lang="en-US" sz="850" dirty="0"/>
          </a:p>
        </p:txBody>
      </p:sp>
      <p:pic>
        <p:nvPicPr>
          <p:cNvPr id="24" name="Image 7" descr="preencoded.png">    </p:cNvPr>
          <p:cNvPicPr>
            <a:picLocks noChangeAspect="1"/>
          </p:cNvPicPr>
          <p:nvPr/>
        </p:nvPicPr>
        <p:blipFill>
          <a:blip r:embed="rId8"/>
          <a:stretch>
            <a:fillRect/>
          </a:stretch>
        </p:blipFill>
        <p:spPr>
          <a:xfrm>
            <a:off x="10880646" y="3760232"/>
            <a:ext cx="3352919" cy="2072164"/>
          </a:xfrm>
          <a:prstGeom prst="rect">
            <a:avLst/>
          </a:prstGeom>
        </p:spPr>
      </p:pic>
      <p:sp>
        <p:nvSpPr>
          <p:cNvPr id="25" name="Text 15"/>
          <p:cNvSpPr/>
          <p:nvPr/>
        </p:nvSpPr>
        <p:spPr>
          <a:xfrm>
            <a:off x="10880646" y="5974080"/>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Online Boarding</a:t>
            </a:r>
            <a:endParaRPr lang="en-US" sz="1100" dirty="0"/>
          </a:p>
        </p:txBody>
      </p:sp>
      <p:sp>
        <p:nvSpPr>
          <p:cNvPr id="26" name="Text 16"/>
          <p:cNvSpPr/>
          <p:nvPr/>
        </p:nvSpPr>
        <p:spPr>
          <a:xfrm>
            <a:off x="10880646" y="6219230"/>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Online boarding strongly affects satisfaction</a:t>
            </a:r>
            <a:endParaRPr lang="en-US" sz="850" dirty="0"/>
          </a:p>
        </p:txBody>
      </p:sp>
      <p:pic>
        <p:nvPicPr>
          <p:cNvPr id="27" name="Image 8" descr="preencoded.png">    </p:cNvPr>
          <p:cNvPicPr>
            <a:picLocks noChangeAspect="1"/>
          </p:cNvPicPr>
          <p:nvPr/>
        </p:nvPicPr>
        <p:blipFill>
          <a:blip r:embed="rId9"/>
          <a:stretch>
            <a:fillRect/>
          </a:stretch>
        </p:blipFill>
        <p:spPr>
          <a:xfrm>
            <a:off x="396835" y="6627495"/>
            <a:ext cx="3352919" cy="2072164"/>
          </a:xfrm>
          <a:prstGeom prst="rect">
            <a:avLst/>
          </a:prstGeom>
        </p:spPr>
      </p:pic>
      <p:sp>
        <p:nvSpPr>
          <p:cNvPr id="28" name="Text 17"/>
          <p:cNvSpPr/>
          <p:nvPr/>
        </p:nvSpPr>
        <p:spPr>
          <a:xfrm>
            <a:off x="396835" y="8841343"/>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Seat Comfort</a:t>
            </a:r>
            <a:endParaRPr lang="en-US" sz="1100" dirty="0"/>
          </a:p>
        </p:txBody>
      </p:sp>
      <p:sp>
        <p:nvSpPr>
          <p:cNvPr id="29" name="Text 18"/>
          <p:cNvSpPr/>
          <p:nvPr/>
        </p:nvSpPr>
        <p:spPr>
          <a:xfrm>
            <a:off x="396835" y="9086493"/>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Comfortable seats increase satisfaction</a:t>
            </a:r>
            <a:endParaRPr lang="en-US" sz="850" dirty="0"/>
          </a:p>
        </p:txBody>
      </p:sp>
      <p:pic>
        <p:nvPicPr>
          <p:cNvPr id="30" name="Image 9" descr="preencoded.png">    </p:cNvPr>
          <p:cNvPicPr>
            <a:picLocks noChangeAspect="1"/>
          </p:cNvPicPr>
          <p:nvPr/>
        </p:nvPicPr>
        <p:blipFill>
          <a:blip r:embed="rId10"/>
          <a:stretch>
            <a:fillRect/>
          </a:stretch>
        </p:blipFill>
        <p:spPr>
          <a:xfrm>
            <a:off x="3891439" y="6627495"/>
            <a:ext cx="3352919" cy="2072164"/>
          </a:xfrm>
          <a:prstGeom prst="rect">
            <a:avLst/>
          </a:prstGeom>
        </p:spPr>
      </p:pic>
      <p:sp>
        <p:nvSpPr>
          <p:cNvPr id="31" name="Text 19"/>
          <p:cNvSpPr/>
          <p:nvPr/>
        </p:nvSpPr>
        <p:spPr>
          <a:xfrm>
            <a:off x="3891439" y="8841343"/>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Entertainment</a:t>
            </a:r>
            <a:endParaRPr lang="en-US" sz="1100" dirty="0"/>
          </a:p>
        </p:txBody>
      </p:sp>
      <p:sp>
        <p:nvSpPr>
          <p:cNvPr id="32" name="Text 20"/>
          <p:cNvSpPr/>
          <p:nvPr/>
        </p:nvSpPr>
        <p:spPr>
          <a:xfrm>
            <a:off x="3891439" y="9086493"/>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Entertainment is valued on long flights</a:t>
            </a:r>
            <a:endParaRPr lang="en-US" sz="850" dirty="0"/>
          </a:p>
        </p:txBody>
      </p:sp>
      <p:pic>
        <p:nvPicPr>
          <p:cNvPr id="33" name="Image 10" descr="preencoded.png">    </p:cNvPr>
          <p:cNvPicPr>
            <a:picLocks noChangeAspect="1"/>
          </p:cNvPicPr>
          <p:nvPr/>
        </p:nvPicPr>
        <p:blipFill>
          <a:blip r:embed="rId11"/>
          <a:stretch>
            <a:fillRect/>
          </a:stretch>
        </p:blipFill>
        <p:spPr>
          <a:xfrm>
            <a:off x="7386042" y="6627495"/>
            <a:ext cx="3352919" cy="2072164"/>
          </a:xfrm>
          <a:prstGeom prst="rect">
            <a:avLst/>
          </a:prstGeom>
        </p:spPr>
      </p:pic>
      <p:sp>
        <p:nvSpPr>
          <p:cNvPr id="34" name="Text 21"/>
          <p:cNvSpPr/>
          <p:nvPr/>
        </p:nvSpPr>
        <p:spPr>
          <a:xfrm>
            <a:off x="7386042" y="8841343"/>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On-board Service</a:t>
            </a:r>
            <a:endParaRPr lang="en-US" sz="1100" dirty="0"/>
          </a:p>
        </p:txBody>
      </p:sp>
      <p:sp>
        <p:nvSpPr>
          <p:cNvPr id="35" name="Text 22"/>
          <p:cNvSpPr/>
          <p:nvPr/>
        </p:nvSpPr>
        <p:spPr>
          <a:xfrm>
            <a:off x="7386042" y="9086493"/>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Good service improves experience</a:t>
            </a:r>
            <a:endParaRPr lang="en-US" sz="850" dirty="0"/>
          </a:p>
        </p:txBody>
      </p:sp>
      <p:pic>
        <p:nvPicPr>
          <p:cNvPr id="36" name="Image 11" descr="preencoded.png">    </p:cNvPr>
          <p:cNvPicPr>
            <a:picLocks noChangeAspect="1"/>
          </p:cNvPicPr>
          <p:nvPr/>
        </p:nvPicPr>
        <p:blipFill>
          <a:blip r:embed="rId12"/>
          <a:stretch>
            <a:fillRect/>
          </a:stretch>
        </p:blipFill>
        <p:spPr>
          <a:xfrm>
            <a:off x="10880646" y="6627495"/>
            <a:ext cx="3352919" cy="2072164"/>
          </a:xfrm>
          <a:prstGeom prst="rect">
            <a:avLst/>
          </a:prstGeom>
        </p:spPr>
      </p:pic>
      <p:sp>
        <p:nvSpPr>
          <p:cNvPr id="37" name="Text 23"/>
          <p:cNvSpPr/>
          <p:nvPr/>
        </p:nvSpPr>
        <p:spPr>
          <a:xfrm>
            <a:off x="10880646" y="8841343"/>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Leg Room</a:t>
            </a:r>
            <a:endParaRPr lang="en-US" sz="1100" dirty="0"/>
          </a:p>
        </p:txBody>
      </p:sp>
      <p:sp>
        <p:nvSpPr>
          <p:cNvPr id="38" name="Text 24"/>
          <p:cNvSpPr/>
          <p:nvPr/>
        </p:nvSpPr>
        <p:spPr>
          <a:xfrm>
            <a:off x="10880646" y="9086493"/>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Leg space matters for satisfaction</a:t>
            </a:r>
            <a:endParaRPr lang="en-US" sz="850" dirty="0"/>
          </a:p>
        </p:txBody>
      </p:sp>
      <p:pic>
        <p:nvPicPr>
          <p:cNvPr id="39" name="Image 12" descr="preencoded.png">    </p:cNvPr>
          <p:cNvPicPr>
            <a:picLocks noChangeAspect="1"/>
          </p:cNvPicPr>
          <p:nvPr/>
        </p:nvPicPr>
        <p:blipFill>
          <a:blip r:embed="rId13"/>
          <a:stretch>
            <a:fillRect/>
          </a:stretch>
        </p:blipFill>
        <p:spPr>
          <a:xfrm>
            <a:off x="396835" y="9494758"/>
            <a:ext cx="3352919" cy="2072164"/>
          </a:xfrm>
          <a:prstGeom prst="rect">
            <a:avLst/>
          </a:prstGeom>
        </p:spPr>
      </p:pic>
      <p:sp>
        <p:nvSpPr>
          <p:cNvPr id="40" name="Text 25"/>
          <p:cNvSpPr/>
          <p:nvPr/>
        </p:nvSpPr>
        <p:spPr>
          <a:xfrm>
            <a:off x="396835" y="11708606"/>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Baggage Handling</a:t>
            </a:r>
            <a:endParaRPr lang="en-US" sz="1100" dirty="0"/>
          </a:p>
        </p:txBody>
      </p:sp>
      <p:sp>
        <p:nvSpPr>
          <p:cNvPr id="41" name="Text 26"/>
          <p:cNvSpPr/>
          <p:nvPr/>
        </p:nvSpPr>
        <p:spPr>
          <a:xfrm>
            <a:off x="396835" y="11953756"/>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Smooth baggage handling reduces complaints</a:t>
            </a:r>
            <a:endParaRPr lang="en-US" sz="850" dirty="0"/>
          </a:p>
        </p:txBody>
      </p:sp>
      <p:pic>
        <p:nvPicPr>
          <p:cNvPr id="42" name="Image 13" descr="preencoded.png">    </p:cNvPr>
          <p:cNvPicPr>
            <a:picLocks noChangeAspect="1"/>
          </p:cNvPicPr>
          <p:nvPr/>
        </p:nvPicPr>
        <p:blipFill>
          <a:blip r:embed="rId14"/>
          <a:stretch>
            <a:fillRect/>
          </a:stretch>
        </p:blipFill>
        <p:spPr>
          <a:xfrm>
            <a:off x="3891439" y="9494758"/>
            <a:ext cx="3352919" cy="2072164"/>
          </a:xfrm>
          <a:prstGeom prst="rect">
            <a:avLst/>
          </a:prstGeom>
        </p:spPr>
      </p:pic>
      <p:sp>
        <p:nvSpPr>
          <p:cNvPr id="43" name="Text 27"/>
          <p:cNvSpPr/>
          <p:nvPr/>
        </p:nvSpPr>
        <p:spPr>
          <a:xfrm>
            <a:off x="3891439" y="11708606"/>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Check-in Service</a:t>
            </a:r>
            <a:endParaRPr lang="en-US" sz="1100" dirty="0"/>
          </a:p>
        </p:txBody>
      </p:sp>
      <p:sp>
        <p:nvSpPr>
          <p:cNvPr id="44" name="Text 28"/>
          <p:cNvSpPr/>
          <p:nvPr/>
        </p:nvSpPr>
        <p:spPr>
          <a:xfrm>
            <a:off x="3891439" y="11953756"/>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Efficient check-in boosts experience</a:t>
            </a:r>
            <a:endParaRPr lang="en-US" sz="850" dirty="0"/>
          </a:p>
        </p:txBody>
      </p:sp>
      <p:pic>
        <p:nvPicPr>
          <p:cNvPr id="45" name="Image 14" descr="preencoded.png">    </p:cNvPr>
          <p:cNvPicPr>
            <a:picLocks noChangeAspect="1"/>
          </p:cNvPicPr>
          <p:nvPr/>
        </p:nvPicPr>
        <p:blipFill>
          <a:blip r:embed="rId15"/>
          <a:stretch>
            <a:fillRect/>
          </a:stretch>
        </p:blipFill>
        <p:spPr>
          <a:xfrm>
            <a:off x="7386042" y="9494758"/>
            <a:ext cx="3352919" cy="2072164"/>
          </a:xfrm>
          <a:prstGeom prst="rect">
            <a:avLst/>
          </a:prstGeom>
        </p:spPr>
      </p:pic>
      <p:sp>
        <p:nvSpPr>
          <p:cNvPr id="46" name="Text 29"/>
          <p:cNvSpPr/>
          <p:nvPr/>
        </p:nvSpPr>
        <p:spPr>
          <a:xfrm>
            <a:off x="7386042" y="11708606"/>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Inflight Staff</a:t>
            </a:r>
            <a:endParaRPr lang="en-US" sz="1100" dirty="0"/>
          </a:p>
        </p:txBody>
      </p:sp>
      <p:sp>
        <p:nvSpPr>
          <p:cNvPr id="47" name="Text 30"/>
          <p:cNvSpPr/>
          <p:nvPr/>
        </p:nvSpPr>
        <p:spPr>
          <a:xfrm>
            <a:off x="7386042" y="11953756"/>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Friendly inflight staff matters</a:t>
            </a:r>
            <a:endParaRPr lang="en-US" sz="850" dirty="0"/>
          </a:p>
        </p:txBody>
      </p:sp>
      <p:pic>
        <p:nvPicPr>
          <p:cNvPr id="48" name="Image 15" descr="preencoded.png">    </p:cNvPr>
          <p:cNvPicPr>
            <a:picLocks noChangeAspect="1"/>
          </p:cNvPicPr>
          <p:nvPr/>
        </p:nvPicPr>
        <p:blipFill>
          <a:blip r:embed="rId16"/>
          <a:stretch>
            <a:fillRect/>
          </a:stretch>
        </p:blipFill>
        <p:spPr>
          <a:xfrm>
            <a:off x="10880646" y="9494758"/>
            <a:ext cx="3352919" cy="2072164"/>
          </a:xfrm>
          <a:prstGeom prst="rect">
            <a:avLst/>
          </a:prstGeom>
        </p:spPr>
      </p:pic>
      <p:sp>
        <p:nvSpPr>
          <p:cNvPr id="49" name="Text 31"/>
          <p:cNvSpPr/>
          <p:nvPr/>
        </p:nvSpPr>
        <p:spPr>
          <a:xfrm>
            <a:off x="10880646" y="11708606"/>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Cleanliness</a:t>
            </a:r>
            <a:endParaRPr lang="en-US" sz="1100" dirty="0"/>
          </a:p>
        </p:txBody>
      </p:sp>
      <p:sp>
        <p:nvSpPr>
          <p:cNvPr id="50" name="Text 32"/>
          <p:cNvSpPr/>
          <p:nvPr/>
        </p:nvSpPr>
        <p:spPr>
          <a:xfrm>
            <a:off x="10880646" y="11953756"/>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Clean environment improves perception</a:t>
            </a:r>
            <a:endParaRPr lang="en-US" sz="850" dirty="0"/>
          </a:p>
        </p:txBody>
      </p:sp>
      <p:pic>
        <p:nvPicPr>
          <p:cNvPr id="51" name="Image 16" descr="preencoded.png">    </p:cNvPr>
          <p:cNvPicPr>
            <a:picLocks noChangeAspect="1"/>
          </p:cNvPicPr>
          <p:nvPr/>
        </p:nvPicPr>
        <p:blipFill>
          <a:blip r:embed="rId17"/>
          <a:stretch>
            <a:fillRect/>
          </a:stretch>
        </p:blipFill>
        <p:spPr>
          <a:xfrm>
            <a:off x="396835" y="12362021"/>
            <a:ext cx="3352919" cy="2072164"/>
          </a:xfrm>
          <a:prstGeom prst="rect">
            <a:avLst/>
          </a:prstGeom>
        </p:spPr>
      </p:pic>
      <p:sp>
        <p:nvSpPr>
          <p:cNvPr id="52" name="Text 33"/>
          <p:cNvSpPr/>
          <p:nvPr/>
        </p:nvSpPr>
        <p:spPr>
          <a:xfrm>
            <a:off x="396835" y="14575869"/>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Arrival Delays</a:t>
            </a:r>
            <a:endParaRPr lang="en-US" sz="1100" dirty="0"/>
          </a:p>
        </p:txBody>
      </p:sp>
      <p:sp>
        <p:nvSpPr>
          <p:cNvPr id="53" name="Text 34"/>
          <p:cNvSpPr/>
          <p:nvPr/>
        </p:nvSpPr>
        <p:spPr>
          <a:xfrm>
            <a:off x="396835" y="14821019"/>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Delays reduce satisfaction</a:t>
            </a:r>
            <a:endParaRPr lang="en-US" sz="850" dirty="0"/>
          </a:p>
        </p:txBody>
      </p:sp>
      <p:pic>
        <p:nvPicPr>
          <p:cNvPr id="54" name="Image 17" descr="preencoded.png">    </p:cNvPr>
          <p:cNvPicPr>
            <a:picLocks noChangeAspect="1"/>
          </p:cNvPicPr>
          <p:nvPr/>
        </p:nvPicPr>
        <p:blipFill>
          <a:blip r:embed="rId18"/>
          <a:stretch>
            <a:fillRect/>
          </a:stretch>
        </p:blipFill>
        <p:spPr>
          <a:xfrm>
            <a:off x="3891439" y="12362021"/>
            <a:ext cx="3352919" cy="2072164"/>
          </a:xfrm>
          <a:prstGeom prst="rect">
            <a:avLst/>
          </a:prstGeom>
        </p:spPr>
      </p:pic>
      <p:sp>
        <p:nvSpPr>
          <p:cNvPr id="55" name="Text 35"/>
          <p:cNvSpPr/>
          <p:nvPr/>
        </p:nvSpPr>
        <p:spPr>
          <a:xfrm>
            <a:off x="3891439" y="14575869"/>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Gender Patterns</a:t>
            </a:r>
            <a:endParaRPr lang="en-US" sz="1100" dirty="0"/>
          </a:p>
        </p:txBody>
      </p:sp>
      <p:sp>
        <p:nvSpPr>
          <p:cNvPr id="56" name="Text 36"/>
          <p:cNvSpPr/>
          <p:nvPr/>
        </p:nvSpPr>
        <p:spPr>
          <a:xfrm>
            <a:off x="3891439" y="14821019"/>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Passenger satisfaction may vary by gender</a:t>
            </a:r>
            <a:endParaRPr lang="en-US" sz="850" dirty="0"/>
          </a:p>
        </p:txBody>
      </p:sp>
      <p:pic>
        <p:nvPicPr>
          <p:cNvPr id="57" name="Image 18" descr="preencoded.png">    </p:cNvPr>
          <p:cNvPicPr>
            <a:picLocks noChangeAspect="1"/>
          </p:cNvPicPr>
          <p:nvPr/>
        </p:nvPicPr>
        <p:blipFill>
          <a:blip r:embed="rId19"/>
          <a:stretch>
            <a:fillRect/>
          </a:stretch>
        </p:blipFill>
        <p:spPr>
          <a:xfrm>
            <a:off x="7386042" y="12362021"/>
            <a:ext cx="3352919" cy="2072164"/>
          </a:xfrm>
          <a:prstGeom prst="rect">
            <a:avLst/>
          </a:prstGeom>
        </p:spPr>
      </p:pic>
      <p:sp>
        <p:nvSpPr>
          <p:cNvPr id="58" name="Text 37"/>
          <p:cNvSpPr/>
          <p:nvPr/>
        </p:nvSpPr>
        <p:spPr>
          <a:xfrm>
            <a:off x="7386042" y="14575869"/>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Age Factors</a:t>
            </a:r>
            <a:endParaRPr lang="en-US" sz="1100" dirty="0"/>
          </a:p>
        </p:txBody>
      </p:sp>
      <p:sp>
        <p:nvSpPr>
          <p:cNvPr id="59" name="Text 38"/>
          <p:cNvSpPr/>
          <p:nvPr/>
        </p:nvSpPr>
        <p:spPr>
          <a:xfrm>
            <a:off x="7386042" y="14821019"/>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Older passengers may value different services</a:t>
            </a:r>
            <a:endParaRPr lang="en-US" sz="850" dirty="0"/>
          </a:p>
        </p:txBody>
      </p:sp>
      <p:pic>
        <p:nvPicPr>
          <p:cNvPr id="60" name="Image 19" descr="preencoded.png">    </p:cNvPr>
          <p:cNvPicPr>
            <a:picLocks noChangeAspect="1"/>
          </p:cNvPicPr>
          <p:nvPr/>
        </p:nvPicPr>
        <p:blipFill>
          <a:blip r:embed="rId20"/>
          <a:stretch>
            <a:fillRect/>
          </a:stretch>
        </p:blipFill>
        <p:spPr>
          <a:xfrm>
            <a:off x="10880646" y="12362021"/>
            <a:ext cx="3352919" cy="2072164"/>
          </a:xfrm>
          <a:prstGeom prst="rect">
            <a:avLst/>
          </a:prstGeom>
        </p:spPr>
      </p:pic>
      <p:sp>
        <p:nvSpPr>
          <p:cNvPr id="61" name="Text 39"/>
          <p:cNvSpPr/>
          <p:nvPr/>
        </p:nvSpPr>
        <p:spPr>
          <a:xfrm>
            <a:off x="10880646" y="14575869"/>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Gate Location</a:t>
            </a:r>
            <a:endParaRPr lang="en-US" sz="1100" dirty="0"/>
          </a:p>
        </p:txBody>
      </p:sp>
      <p:sp>
        <p:nvSpPr>
          <p:cNvPr id="62" name="Text 40"/>
          <p:cNvSpPr/>
          <p:nvPr/>
        </p:nvSpPr>
        <p:spPr>
          <a:xfrm>
            <a:off x="10880646" y="14821019"/>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Gate proximity may reduce stress</a:t>
            </a:r>
            <a:endParaRPr lang="en-US" sz="850" dirty="0"/>
          </a:p>
        </p:txBody>
      </p:sp>
      <p:pic>
        <p:nvPicPr>
          <p:cNvPr id="63" name="Image 20" descr="preencoded.png">    </p:cNvPr>
          <p:cNvPicPr>
            <a:picLocks noChangeAspect="1"/>
          </p:cNvPicPr>
          <p:nvPr/>
        </p:nvPicPr>
        <p:blipFill>
          <a:blip r:embed="rId21"/>
          <a:stretch>
            <a:fillRect/>
          </a:stretch>
        </p:blipFill>
        <p:spPr>
          <a:xfrm>
            <a:off x="396835" y="15229284"/>
            <a:ext cx="3352919" cy="2072164"/>
          </a:xfrm>
          <a:prstGeom prst="rect">
            <a:avLst/>
          </a:prstGeom>
        </p:spPr>
      </p:pic>
      <p:sp>
        <p:nvSpPr>
          <p:cNvPr id="64" name="Text 41"/>
          <p:cNvSpPr/>
          <p:nvPr/>
        </p:nvSpPr>
        <p:spPr>
          <a:xfrm>
            <a:off x="396835" y="17443132"/>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4A4A45"/>
                </a:solidFill>
                <a:latin typeface="Lato Bold" pitchFamily="34" charset="0"/>
                <a:ea typeface="Lato Bold" pitchFamily="34" charset="-122"/>
                <a:cs typeface="Lato Bold" pitchFamily="34" charset="-120"/>
              </a:rPr>
              <a:t>Food and Drink</a:t>
            </a:r>
            <a:endParaRPr lang="en-US" sz="1100" dirty="0"/>
          </a:p>
        </p:txBody>
      </p:sp>
      <p:sp>
        <p:nvSpPr>
          <p:cNvPr id="65" name="Text 42"/>
          <p:cNvSpPr/>
          <p:nvPr/>
        </p:nvSpPr>
        <p:spPr>
          <a:xfrm>
            <a:off x="396835" y="17688282"/>
            <a:ext cx="3352919" cy="181451"/>
          </a:xfrm>
          <a:prstGeom prst="rect">
            <a:avLst/>
          </a:prstGeom>
          <a:noFill/>
          <a:ln/>
        </p:spPr>
        <p:txBody>
          <a:bodyPr wrap="none" lIns="0" tIns="0" rIns="0" bIns="0" rtlCol="0" anchor="t"/>
          <a:lstStyle/>
          <a:p>
            <a:pPr algn="l" indent="0" marL="0">
              <a:lnSpc>
                <a:spcPts val="1400"/>
              </a:lnSpc>
              <a:buNone/>
            </a:pPr>
            <a:r>
              <a:rPr lang="en-US" sz="850" dirty="0">
                <a:solidFill>
                  <a:srgbClr val="4A4A45"/>
                </a:solidFill>
                <a:latin typeface="Lato" pitchFamily="34" charset="0"/>
                <a:ea typeface="Lato" pitchFamily="34" charset="-122"/>
                <a:cs typeface="Lato" pitchFamily="34" charset="-120"/>
              </a:rPr>
              <a:t>Better food increases enjoyment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83663"/>
            <a:ext cx="7998142" cy="708779"/>
          </a:xfrm>
          <a:prstGeom prst="rect">
            <a:avLst/>
          </a:prstGeom>
          <a:noFill/>
          <a:ln/>
        </p:spPr>
        <p:txBody>
          <a:bodyPr wrap="none" lIns="0" tIns="0" rIns="0" bIns="0" rtlCol="0" anchor="t"/>
          <a:lstStyle/>
          <a:p>
            <a:pPr algn="l" indent="0" marL="0">
              <a:lnSpc>
                <a:spcPts val="5550"/>
              </a:lnSpc>
              <a:buNone/>
            </a:pPr>
            <a:r>
              <a:rPr lang="en-US" sz="4450" b="1" dirty="0">
                <a:solidFill>
                  <a:srgbClr val="282824"/>
                </a:solidFill>
                <a:latin typeface="Lato Bold" pitchFamily="34" charset="0"/>
                <a:ea typeface="Lato Bold" pitchFamily="34" charset="-122"/>
                <a:cs typeface="Lato Bold" pitchFamily="34" charset="-120"/>
              </a:rPr>
              <a:t>Modeling and Feature Selection</a:t>
            </a:r>
            <a:endParaRPr lang="en-US" sz="4450" dirty="0"/>
          </a:p>
        </p:txBody>
      </p:sp>
      <p:sp>
        <p:nvSpPr>
          <p:cNvPr id="3" name="Text 1"/>
          <p:cNvSpPr/>
          <p:nvPr/>
        </p:nvSpPr>
        <p:spPr>
          <a:xfrm>
            <a:off x="793790" y="2846070"/>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We used Logistic Regression, Random Forest, and XGBoost models. Feature selection was performed using LASSO combined with SMOTE and Random Undersampling to balance the dataset.</a:t>
            </a:r>
            <a:endParaRPr lang="en-US" sz="1750" dirty="0"/>
          </a:p>
        </p:txBody>
      </p:sp>
      <p:sp>
        <p:nvSpPr>
          <p:cNvPr id="4" name="Text 2"/>
          <p:cNvSpPr/>
          <p:nvPr/>
        </p:nvSpPr>
        <p:spPr>
          <a:xfrm>
            <a:off x="793790" y="3827026"/>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XGBoost consistently outperformed others, achieving the highest AUC and balanced metrics. Logistic Regression was stable but less powerful, while Random Forest showed slight overfitting.</a:t>
            </a:r>
            <a:endParaRPr lang="en-US" sz="1750" dirty="0"/>
          </a:p>
        </p:txBody>
      </p:sp>
      <p:sp>
        <p:nvSpPr>
          <p:cNvPr id="5" name="Text 3"/>
          <p:cNvSpPr/>
          <p:nvPr/>
        </p:nvSpPr>
        <p:spPr>
          <a:xfrm>
            <a:off x="793790" y="503479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82824"/>
                </a:solidFill>
                <a:latin typeface="Lato Bold" pitchFamily="34" charset="0"/>
                <a:ea typeface="Lato Bold" pitchFamily="34" charset="-122"/>
                <a:cs typeface="Lato Bold" pitchFamily="34" charset="-120"/>
              </a:rPr>
              <a:t>Logistic Regression</a:t>
            </a:r>
            <a:endParaRPr lang="en-US" sz="2200" dirty="0"/>
          </a:p>
        </p:txBody>
      </p:sp>
      <p:sp>
        <p:nvSpPr>
          <p:cNvPr id="6" name="Text 4"/>
          <p:cNvSpPr/>
          <p:nvPr/>
        </p:nvSpPr>
        <p:spPr>
          <a:xfrm>
            <a:off x="793790" y="5615940"/>
            <a:ext cx="3978116"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Simple and stable, slightly weaker performance</a:t>
            </a:r>
            <a:endParaRPr lang="en-US" sz="1750" dirty="0"/>
          </a:p>
        </p:txBody>
      </p:sp>
      <p:sp>
        <p:nvSpPr>
          <p:cNvPr id="7" name="Text 5"/>
          <p:cNvSpPr/>
          <p:nvPr/>
        </p:nvSpPr>
        <p:spPr>
          <a:xfrm>
            <a:off x="5332928" y="503479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82824"/>
                </a:solidFill>
                <a:latin typeface="Lato Bold" pitchFamily="34" charset="0"/>
                <a:ea typeface="Lato Bold" pitchFamily="34" charset="-122"/>
                <a:cs typeface="Lato Bold" pitchFamily="34" charset="-120"/>
              </a:rPr>
              <a:t>Random Forest</a:t>
            </a:r>
            <a:endParaRPr lang="en-US" sz="2200" dirty="0"/>
          </a:p>
        </p:txBody>
      </p:sp>
      <p:sp>
        <p:nvSpPr>
          <p:cNvPr id="8" name="Text 6"/>
          <p:cNvSpPr/>
          <p:nvPr/>
        </p:nvSpPr>
        <p:spPr>
          <a:xfrm>
            <a:off x="5332928" y="5615940"/>
            <a:ext cx="3978116"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Strong but with some overfitting tendencies</a:t>
            </a:r>
            <a:endParaRPr lang="en-US" sz="1750" dirty="0"/>
          </a:p>
        </p:txBody>
      </p:sp>
      <p:sp>
        <p:nvSpPr>
          <p:cNvPr id="9" name="Text 7"/>
          <p:cNvSpPr/>
          <p:nvPr/>
        </p:nvSpPr>
        <p:spPr>
          <a:xfrm>
            <a:off x="9872067" y="503479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82824"/>
                </a:solidFill>
                <a:latin typeface="Lato Bold" pitchFamily="34" charset="0"/>
                <a:ea typeface="Lato Bold" pitchFamily="34" charset="-122"/>
                <a:cs typeface="Lato Bold" pitchFamily="34" charset="-120"/>
              </a:rPr>
              <a:t>XGBoost</a:t>
            </a:r>
            <a:endParaRPr lang="en-US" sz="2200" dirty="0"/>
          </a:p>
        </p:txBody>
      </p:sp>
      <p:sp>
        <p:nvSpPr>
          <p:cNvPr id="10" name="Text 8"/>
          <p:cNvSpPr/>
          <p:nvPr/>
        </p:nvSpPr>
        <p:spPr>
          <a:xfrm>
            <a:off x="9872067" y="5615940"/>
            <a:ext cx="3978116"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Best performance with highest AUC and balanced metrics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143720"/>
            <a:ext cx="7865983" cy="708779"/>
          </a:xfrm>
          <a:prstGeom prst="rect">
            <a:avLst/>
          </a:prstGeom>
          <a:noFill/>
          <a:ln/>
        </p:spPr>
        <p:txBody>
          <a:bodyPr wrap="none" lIns="0" tIns="0" rIns="0" bIns="0" rtlCol="0" anchor="t"/>
          <a:lstStyle/>
          <a:p>
            <a:pPr algn="l" indent="0" marL="0">
              <a:lnSpc>
                <a:spcPts val="5550"/>
              </a:lnSpc>
              <a:buNone/>
            </a:pPr>
            <a:r>
              <a:rPr lang="en-US" sz="4450" b="1" dirty="0">
                <a:solidFill>
                  <a:srgbClr val="282824"/>
                </a:solidFill>
                <a:latin typeface="Lato Bold" pitchFamily="34" charset="0"/>
                <a:ea typeface="Lato Bold" pitchFamily="34" charset="-122"/>
                <a:cs typeface="Lato Bold" pitchFamily="34" charset="-120"/>
              </a:rPr>
              <a:t>Model Performance Evaluation</a:t>
            </a:r>
            <a:endParaRPr lang="en-US" sz="4450" dirty="0"/>
          </a:p>
        </p:txBody>
      </p:sp>
      <p:sp>
        <p:nvSpPr>
          <p:cNvPr id="3" name="Text 1"/>
          <p:cNvSpPr/>
          <p:nvPr/>
        </p:nvSpPr>
        <p:spPr>
          <a:xfrm>
            <a:off x="793790" y="3192661"/>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XGBoost achieved the highest accuracy of 96.2% and an AUC of 0.995, outperforming other models. Evaluation metrics included Accuracy, Precision, Recall, and AUC to ensure robust assessment.</a:t>
            </a:r>
            <a:endParaRPr lang="en-US" sz="1750" dirty="0"/>
          </a:p>
        </p:txBody>
      </p:sp>
      <p:sp>
        <p:nvSpPr>
          <p:cNvPr id="4" name="Text 2"/>
          <p:cNvSpPr/>
          <p:nvPr/>
        </p:nvSpPr>
        <p:spPr>
          <a:xfrm>
            <a:off x="793790" y="4173617"/>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LASSO-selected features proved critical in refining model predictions and guiding actionable insights.</a:t>
            </a:r>
            <a:endParaRPr lang="en-US" sz="1750" dirty="0"/>
          </a:p>
        </p:txBody>
      </p:sp>
      <p:sp>
        <p:nvSpPr>
          <p:cNvPr id="5" name="Shape 3"/>
          <p:cNvSpPr/>
          <p:nvPr/>
        </p:nvSpPr>
        <p:spPr>
          <a:xfrm>
            <a:off x="793790" y="4791670"/>
            <a:ext cx="510302" cy="510302"/>
          </a:xfrm>
          <a:prstGeom prst="roundRect">
            <a:avLst>
              <a:gd name="adj" fmla="val 6667"/>
            </a:avLst>
          </a:prstGeom>
          <a:solidFill>
            <a:srgbClr val="E5DFD2"/>
          </a:solidFill>
          <a:ln/>
        </p:spPr>
      </p:sp>
      <p:sp>
        <p:nvSpPr>
          <p:cNvPr id="6" name="Text 4"/>
          <p:cNvSpPr/>
          <p:nvPr/>
        </p:nvSpPr>
        <p:spPr>
          <a:xfrm>
            <a:off x="1530906" y="486953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Accuracy</a:t>
            </a:r>
            <a:endParaRPr lang="en-US" sz="2200" dirty="0"/>
          </a:p>
        </p:txBody>
      </p:sp>
      <p:sp>
        <p:nvSpPr>
          <p:cNvPr id="7" name="Text 5"/>
          <p:cNvSpPr/>
          <p:nvPr/>
        </p:nvSpPr>
        <p:spPr>
          <a:xfrm>
            <a:off x="1530906" y="5359956"/>
            <a:ext cx="3421499"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XGBoost reached 96.2% accuracy</a:t>
            </a:r>
            <a:endParaRPr lang="en-US" sz="1750" dirty="0"/>
          </a:p>
        </p:txBody>
      </p:sp>
      <p:sp>
        <p:nvSpPr>
          <p:cNvPr id="8" name="Shape 6"/>
          <p:cNvSpPr/>
          <p:nvPr/>
        </p:nvSpPr>
        <p:spPr>
          <a:xfrm>
            <a:off x="5235893" y="4791670"/>
            <a:ext cx="510302" cy="510302"/>
          </a:xfrm>
          <a:prstGeom prst="roundRect">
            <a:avLst>
              <a:gd name="adj" fmla="val 6667"/>
            </a:avLst>
          </a:prstGeom>
          <a:solidFill>
            <a:srgbClr val="E5DFD2"/>
          </a:solidFill>
          <a:ln/>
        </p:spPr>
      </p:sp>
      <p:sp>
        <p:nvSpPr>
          <p:cNvPr id="9" name="Text 7"/>
          <p:cNvSpPr/>
          <p:nvPr/>
        </p:nvSpPr>
        <p:spPr>
          <a:xfrm>
            <a:off x="5973008" y="486953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AUC</a:t>
            </a:r>
            <a:endParaRPr lang="en-US" sz="2200" dirty="0"/>
          </a:p>
        </p:txBody>
      </p:sp>
      <p:sp>
        <p:nvSpPr>
          <p:cNvPr id="10" name="Text 8"/>
          <p:cNvSpPr/>
          <p:nvPr/>
        </p:nvSpPr>
        <p:spPr>
          <a:xfrm>
            <a:off x="5973008" y="5359956"/>
            <a:ext cx="3421499"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XGBoost scored 0.995, indicating excellent discrimination</a:t>
            </a:r>
            <a:endParaRPr lang="en-US" sz="1750" dirty="0"/>
          </a:p>
        </p:txBody>
      </p:sp>
      <p:sp>
        <p:nvSpPr>
          <p:cNvPr id="11" name="Shape 9"/>
          <p:cNvSpPr/>
          <p:nvPr/>
        </p:nvSpPr>
        <p:spPr>
          <a:xfrm>
            <a:off x="9677995" y="4791670"/>
            <a:ext cx="510302" cy="510302"/>
          </a:xfrm>
          <a:prstGeom prst="roundRect">
            <a:avLst>
              <a:gd name="adj" fmla="val 6667"/>
            </a:avLst>
          </a:prstGeom>
          <a:solidFill>
            <a:srgbClr val="E5DFD2"/>
          </a:solidFill>
          <a:ln/>
        </p:spPr>
      </p:sp>
      <p:sp>
        <p:nvSpPr>
          <p:cNvPr id="12" name="Text 10"/>
          <p:cNvSpPr/>
          <p:nvPr/>
        </p:nvSpPr>
        <p:spPr>
          <a:xfrm>
            <a:off x="10415111" y="486953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Key Features</a:t>
            </a:r>
            <a:endParaRPr lang="en-US" sz="2200" dirty="0"/>
          </a:p>
        </p:txBody>
      </p:sp>
      <p:sp>
        <p:nvSpPr>
          <p:cNvPr id="13" name="Text 11"/>
          <p:cNvSpPr/>
          <p:nvPr/>
        </p:nvSpPr>
        <p:spPr>
          <a:xfrm>
            <a:off x="10415111" y="5359956"/>
            <a:ext cx="3421499" cy="725805"/>
          </a:xfrm>
          <a:prstGeom prst="rect">
            <a:avLst/>
          </a:prstGeom>
          <a:noFill/>
          <a:ln/>
        </p:spPr>
        <p:txBody>
          <a:bodyPr wrap="squar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Customer Type, Type of Travel, Online Boarding, Wifi Service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1917263"/>
          </a:xfrm>
          <a:prstGeom prst="rect">
            <a:avLst/>
          </a:prstGeom>
        </p:spPr>
      </p:pic>
      <p:sp>
        <p:nvSpPr>
          <p:cNvPr id="3" name="Text 0"/>
          <p:cNvSpPr/>
          <p:nvPr/>
        </p:nvSpPr>
        <p:spPr>
          <a:xfrm>
            <a:off x="536734" y="2338983"/>
            <a:ext cx="5145643" cy="479346"/>
          </a:xfrm>
          <a:prstGeom prst="rect">
            <a:avLst/>
          </a:prstGeom>
          <a:noFill/>
          <a:ln/>
        </p:spPr>
        <p:txBody>
          <a:bodyPr wrap="none" lIns="0" tIns="0" rIns="0" bIns="0" rtlCol="0" anchor="t"/>
          <a:lstStyle/>
          <a:p>
            <a:pPr algn="l" indent="0" marL="0">
              <a:lnSpc>
                <a:spcPts val="3750"/>
              </a:lnSpc>
              <a:buNone/>
            </a:pPr>
            <a:r>
              <a:rPr lang="en-US" sz="3000" b="1" dirty="0">
                <a:solidFill>
                  <a:srgbClr val="282824"/>
                </a:solidFill>
                <a:latin typeface="Lato Bold" pitchFamily="34" charset="0"/>
                <a:ea typeface="Lato Bold" pitchFamily="34" charset="-122"/>
                <a:cs typeface="Lato Bold" pitchFamily="34" charset="-120"/>
              </a:rPr>
              <a:t>Actionable Recommendations</a:t>
            </a:r>
            <a:endParaRPr lang="en-US" sz="3000" dirty="0"/>
          </a:p>
        </p:txBody>
      </p:sp>
      <p:sp>
        <p:nvSpPr>
          <p:cNvPr id="4" name="Text 1"/>
          <p:cNvSpPr/>
          <p:nvPr/>
        </p:nvSpPr>
        <p:spPr>
          <a:xfrm>
            <a:off x="536734" y="3048357"/>
            <a:ext cx="13556933" cy="490538"/>
          </a:xfrm>
          <a:prstGeom prst="rect">
            <a:avLst/>
          </a:prstGeom>
          <a:noFill/>
          <a:ln/>
        </p:spPr>
        <p:txBody>
          <a:bodyPr wrap="square" lIns="0" tIns="0" rIns="0" bIns="0" rtlCol="0" anchor="t"/>
          <a:lstStyle/>
          <a:p>
            <a:pPr algn="l" indent="0" marL="0">
              <a:lnSpc>
                <a:spcPts val="1900"/>
              </a:lnSpc>
              <a:buNone/>
            </a:pPr>
            <a:r>
              <a:rPr lang="en-US" sz="1200" dirty="0">
                <a:solidFill>
                  <a:srgbClr val="4A4A45"/>
                </a:solidFill>
                <a:latin typeface="Lato" pitchFamily="34" charset="0"/>
                <a:ea typeface="Lato" pitchFamily="34" charset="-122"/>
                <a:cs typeface="Lato" pitchFamily="34" charset="-120"/>
              </a:rPr>
              <a:t>Based on SMOTE LASSO feature analysis, ten recommendations aim to enhance passenger satisfaction. These include improving online boarding, upgrading inflight wifi, and focusing on business travelers' needs.</a:t>
            </a:r>
            <a:endParaRPr lang="en-US" sz="1200" dirty="0"/>
          </a:p>
        </p:txBody>
      </p:sp>
      <p:sp>
        <p:nvSpPr>
          <p:cNvPr id="5" name="Text 2"/>
          <p:cNvSpPr/>
          <p:nvPr/>
        </p:nvSpPr>
        <p:spPr>
          <a:xfrm>
            <a:off x="536734" y="3711416"/>
            <a:ext cx="13556933" cy="245269"/>
          </a:xfrm>
          <a:prstGeom prst="rect">
            <a:avLst/>
          </a:prstGeom>
          <a:noFill/>
          <a:ln/>
        </p:spPr>
        <p:txBody>
          <a:bodyPr wrap="none" lIns="0" tIns="0" rIns="0" bIns="0" rtlCol="0" anchor="t"/>
          <a:lstStyle/>
          <a:p>
            <a:pPr algn="l" indent="0" marL="0">
              <a:lnSpc>
                <a:spcPts val="1900"/>
              </a:lnSpc>
              <a:buNone/>
            </a:pPr>
            <a:r>
              <a:rPr lang="en-US" sz="1200" dirty="0">
                <a:solidFill>
                  <a:srgbClr val="4A4A45"/>
                </a:solidFill>
                <a:latin typeface="Lato" pitchFamily="34" charset="0"/>
                <a:ea typeface="Lato" pitchFamily="34" charset="-122"/>
                <a:cs typeface="Lato" pitchFamily="34" charset="-120"/>
              </a:rPr>
              <a:t>Other suggestions involve enhancing seat comfort, check-in services, cleanliness, minimizing delays, and simplifying online booking.</a:t>
            </a:r>
            <a:endParaRPr lang="en-US" sz="1200" dirty="0"/>
          </a:p>
        </p:txBody>
      </p:sp>
      <p:pic>
        <p:nvPicPr>
          <p:cNvPr id="6" name="Image 1" descr="preencoded.png">    </p:cNvPr>
          <p:cNvPicPr>
            <a:picLocks noChangeAspect="1"/>
          </p:cNvPicPr>
          <p:nvPr/>
        </p:nvPicPr>
        <p:blipFill>
          <a:blip r:embed="rId2"/>
          <a:stretch>
            <a:fillRect/>
          </a:stretch>
        </p:blipFill>
        <p:spPr>
          <a:xfrm>
            <a:off x="536734" y="4129207"/>
            <a:ext cx="766882" cy="920234"/>
          </a:xfrm>
          <a:prstGeom prst="rect">
            <a:avLst/>
          </a:prstGeom>
        </p:spPr>
      </p:pic>
      <p:sp>
        <p:nvSpPr>
          <p:cNvPr id="7" name="Text 3"/>
          <p:cNvSpPr/>
          <p:nvPr/>
        </p:nvSpPr>
        <p:spPr>
          <a:xfrm>
            <a:off x="1533644" y="4282559"/>
            <a:ext cx="2149197" cy="239554"/>
          </a:xfrm>
          <a:prstGeom prst="rect">
            <a:avLst/>
          </a:prstGeom>
          <a:noFill/>
          <a:ln/>
        </p:spPr>
        <p:txBody>
          <a:bodyPr wrap="none" lIns="0" tIns="0" rIns="0" bIns="0" rtlCol="0" anchor="t"/>
          <a:lstStyle/>
          <a:p>
            <a:pPr algn="l" indent="0" marL="0">
              <a:lnSpc>
                <a:spcPts val="1850"/>
              </a:lnSpc>
              <a:buNone/>
            </a:pPr>
            <a:r>
              <a:rPr lang="en-US" sz="1500" b="1" dirty="0">
                <a:solidFill>
                  <a:srgbClr val="4A4A45"/>
                </a:solidFill>
                <a:latin typeface="Lato Bold" pitchFamily="34" charset="0"/>
                <a:ea typeface="Lato Bold" pitchFamily="34" charset="-122"/>
                <a:cs typeface="Lato Bold" pitchFamily="34" charset="-120"/>
              </a:rPr>
              <a:t>Improve Online Boarding</a:t>
            </a:r>
            <a:endParaRPr lang="en-US" sz="1500" dirty="0"/>
          </a:p>
        </p:txBody>
      </p:sp>
      <p:sp>
        <p:nvSpPr>
          <p:cNvPr id="8" name="Text 4"/>
          <p:cNvSpPr/>
          <p:nvPr/>
        </p:nvSpPr>
        <p:spPr>
          <a:xfrm>
            <a:off x="1533644" y="4614029"/>
            <a:ext cx="12560022" cy="245269"/>
          </a:xfrm>
          <a:prstGeom prst="rect">
            <a:avLst/>
          </a:prstGeom>
          <a:noFill/>
          <a:ln/>
        </p:spPr>
        <p:txBody>
          <a:bodyPr wrap="none" lIns="0" tIns="0" rIns="0" bIns="0" rtlCol="0" anchor="t"/>
          <a:lstStyle/>
          <a:p>
            <a:pPr algn="l" indent="0" marL="0">
              <a:lnSpc>
                <a:spcPts val="1900"/>
              </a:lnSpc>
              <a:buNone/>
            </a:pPr>
            <a:r>
              <a:rPr lang="en-US" sz="1200" dirty="0">
                <a:solidFill>
                  <a:srgbClr val="4A4A45"/>
                </a:solidFill>
                <a:latin typeface="Lato" pitchFamily="34" charset="0"/>
                <a:ea typeface="Lato" pitchFamily="34" charset="-122"/>
                <a:cs typeface="Lato" pitchFamily="34" charset="-120"/>
              </a:rPr>
              <a:t>Smooth digital boarding process increases satisfaction</a:t>
            </a:r>
            <a:endParaRPr lang="en-US" sz="1200" dirty="0"/>
          </a:p>
        </p:txBody>
      </p:sp>
      <p:pic>
        <p:nvPicPr>
          <p:cNvPr id="9" name="Image 2" descr="preencoded.png">    </p:cNvPr>
          <p:cNvPicPr>
            <a:picLocks noChangeAspect="1"/>
          </p:cNvPicPr>
          <p:nvPr/>
        </p:nvPicPr>
        <p:blipFill>
          <a:blip r:embed="rId3"/>
          <a:stretch>
            <a:fillRect/>
          </a:stretch>
        </p:blipFill>
        <p:spPr>
          <a:xfrm>
            <a:off x="536734" y="5049441"/>
            <a:ext cx="766882" cy="920234"/>
          </a:xfrm>
          <a:prstGeom prst="rect">
            <a:avLst/>
          </a:prstGeom>
        </p:spPr>
      </p:pic>
      <p:sp>
        <p:nvSpPr>
          <p:cNvPr id="10" name="Text 5"/>
          <p:cNvSpPr/>
          <p:nvPr/>
        </p:nvSpPr>
        <p:spPr>
          <a:xfrm>
            <a:off x="1533644" y="5202793"/>
            <a:ext cx="1917263" cy="239554"/>
          </a:xfrm>
          <a:prstGeom prst="rect">
            <a:avLst/>
          </a:prstGeom>
          <a:noFill/>
          <a:ln/>
        </p:spPr>
        <p:txBody>
          <a:bodyPr wrap="none" lIns="0" tIns="0" rIns="0" bIns="0" rtlCol="0" anchor="t"/>
          <a:lstStyle/>
          <a:p>
            <a:pPr algn="l" indent="0" marL="0">
              <a:lnSpc>
                <a:spcPts val="1850"/>
              </a:lnSpc>
              <a:buNone/>
            </a:pPr>
            <a:r>
              <a:rPr lang="en-US" sz="1500" b="1" dirty="0">
                <a:solidFill>
                  <a:srgbClr val="4A4A45"/>
                </a:solidFill>
                <a:latin typeface="Lato Bold" pitchFamily="34" charset="0"/>
                <a:ea typeface="Lato Bold" pitchFamily="34" charset="-122"/>
                <a:cs typeface="Lato Bold" pitchFamily="34" charset="-120"/>
              </a:rPr>
              <a:t>Upgrade Inflight Wifi</a:t>
            </a:r>
            <a:endParaRPr lang="en-US" sz="1500" dirty="0"/>
          </a:p>
        </p:txBody>
      </p:sp>
      <p:sp>
        <p:nvSpPr>
          <p:cNvPr id="11" name="Text 6"/>
          <p:cNvSpPr/>
          <p:nvPr/>
        </p:nvSpPr>
        <p:spPr>
          <a:xfrm>
            <a:off x="1533644" y="5534263"/>
            <a:ext cx="12560022" cy="245269"/>
          </a:xfrm>
          <a:prstGeom prst="rect">
            <a:avLst/>
          </a:prstGeom>
          <a:noFill/>
          <a:ln/>
        </p:spPr>
        <p:txBody>
          <a:bodyPr wrap="none" lIns="0" tIns="0" rIns="0" bIns="0" rtlCol="0" anchor="t"/>
          <a:lstStyle/>
          <a:p>
            <a:pPr algn="l" indent="0" marL="0">
              <a:lnSpc>
                <a:spcPts val="1900"/>
              </a:lnSpc>
              <a:buNone/>
            </a:pPr>
            <a:r>
              <a:rPr lang="en-US" sz="1200" dirty="0">
                <a:solidFill>
                  <a:srgbClr val="4A4A45"/>
                </a:solidFill>
                <a:latin typeface="Lato" pitchFamily="34" charset="0"/>
                <a:ea typeface="Lato" pitchFamily="34" charset="-122"/>
                <a:cs typeface="Lato" pitchFamily="34" charset="-120"/>
              </a:rPr>
              <a:t>Enhance speed and stability, especially on long flights</a:t>
            </a:r>
            <a:endParaRPr lang="en-US" sz="1200" dirty="0"/>
          </a:p>
        </p:txBody>
      </p:sp>
      <p:pic>
        <p:nvPicPr>
          <p:cNvPr id="12" name="Image 3" descr="preencoded.png">    </p:cNvPr>
          <p:cNvPicPr>
            <a:picLocks noChangeAspect="1"/>
          </p:cNvPicPr>
          <p:nvPr/>
        </p:nvPicPr>
        <p:blipFill>
          <a:blip r:embed="rId4"/>
          <a:stretch>
            <a:fillRect/>
          </a:stretch>
        </p:blipFill>
        <p:spPr>
          <a:xfrm>
            <a:off x="536734" y="5969675"/>
            <a:ext cx="766882" cy="920234"/>
          </a:xfrm>
          <a:prstGeom prst="rect">
            <a:avLst/>
          </a:prstGeom>
        </p:spPr>
      </p:pic>
      <p:sp>
        <p:nvSpPr>
          <p:cNvPr id="13" name="Text 7"/>
          <p:cNvSpPr/>
          <p:nvPr/>
        </p:nvSpPr>
        <p:spPr>
          <a:xfrm>
            <a:off x="1533644" y="6123027"/>
            <a:ext cx="2361367" cy="239554"/>
          </a:xfrm>
          <a:prstGeom prst="rect">
            <a:avLst/>
          </a:prstGeom>
          <a:noFill/>
          <a:ln/>
        </p:spPr>
        <p:txBody>
          <a:bodyPr wrap="none" lIns="0" tIns="0" rIns="0" bIns="0" rtlCol="0" anchor="t"/>
          <a:lstStyle/>
          <a:p>
            <a:pPr algn="l" indent="0" marL="0">
              <a:lnSpc>
                <a:spcPts val="1850"/>
              </a:lnSpc>
              <a:buNone/>
            </a:pPr>
            <a:r>
              <a:rPr lang="en-US" sz="1500" b="1" dirty="0">
                <a:solidFill>
                  <a:srgbClr val="4A4A45"/>
                </a:solidFill>
                <a:latin typeface="Lato Bold" pitchFamily="34" charset="0"/>
                <a:ea typeface="Lato Bold" pitchFamily="34" charset="-122"/>
                <a:cs typeface="Lato Bold" pitchFamily="34" charset="-120"/>
              </a:rPr>
              <a:t>Focus on Business Travelers</a:t>
            </a:r>
            <a:endParaRPr lang="en-US" sz="1500" dirty="0"/>
          </a:p>
        </p:txBody>
      </p:sp>
      <p:sp>
        <p:nvSpPr>
          <p:cNvPr id="14" name="Text 8"/>
          <p:cNvSpPr/>
          <p:nvPr/>
        </p:nvSpPr>
        <p:spPr>
          <a:xfrm>
            <a:off x="1533644" y="6454497"/>
            <a:ext cx="12560022" cy="245269"/>
          </a:xfrm>
          <a:prstGeom prst="rect">
            <a:avLst/>
          </a:prstGeom>
          <a:noFill/>
          <a:ln/>
        </p:spPr>
        <p:txBody>
          <a:bodyPr wrap="none" lIns="0" tIns="0" rIns="0" bIns="0" rtlCol="0" anchor="t"/>
          <a:lstStyle/>
          <a:p>
            <a:pPr algn="l" indent="0" marL="0">
              <a:lnSpc>
                <a:spcPts val="1900"/>
              </a:lnSpc>
              <a:buNone/>
            </a:pPr>
            <a:r>
              <a:rPr lang="en-US" sz="1200" dirty="0">
                <a:solidFill>
                  <a:srgbClr val="4A4A45"/>
                </a:solidFill>
                <a:latin typeface="Lato" pitchFamily="34" charset="0"/>
                <a:ea typeface="Lato" pitchFamily="34" charset="-122"/>
                <a:cs typeface="Lato" pitchFamily="34" charset="-120"/>
              </a:rPr>
              <a:t>Customize services like faster check-in and quieter zones</a:t>
            </a:r>
            <a:endParaRPr lang="en-US" sz="1200" dirty="0"/>
          </a:p>
        </p:txBody>
      </p:sp>
      <p:pic>
        <p:nvPicPr>
          <p:cNvPr id="15" name="Image 4" descr="preencoded.png">    </p:cNvPr>
          <p:cNvPicPr>
            <a:picLocks noChangeAspect="1"/>
          </p:cNvPicPr>
          <p:nvPr/>
        </p:nvPicPr>
        <p:blipFill>
          <a:blip r:embed="rId5"/>
          <a:stretch>
            <a:fillRect/>
          </a:stretch>
        </p:blipFill>
        <p:spPr>
          <a:xfrm>
            <a:off x="536734" y="6889909"/>
            <a:ext cx="766882" cy="920234"/>
          </a:xfrm>
          <a:prstGeom prst="rect">
            <a:avLst/>
          </a:prstGeom>
        </p:spPr>
      </p:pic>
      <p:sp>
        <p:nvSpPr>
          <p:cNvPr id="16" name="Text 9"/>
          <p:cNvSpPr/>
          <p:nvPr/>
        </p:nvSpPr>
        <p:spPr>
          <a:xfrm>
            <a:off x="1533644" y="7043261"/>
            <a:ext cx="1917263" cy="239554"/>
          </a:xfrm>
          <a:prstGeom prst="rect">
            <a:avLst/>
          </a:prstGeom>
          <a:noFill/>
          <a:ln/>
        </p:spPr>
        <p:txBody>
          <a:bodyPr wrap="none" lIns="0" tIns="0" rIns="0" bIns="0" rtlCol="0" anchor="t"/>
          <a:lstStyle/>
          <a:p>
            <a:pPr algn="l" indent="0" marL="0">
              <a:lnSpc>
                <a:spcPts val="1850"/>
              </a:lnSpc>
              <a:buNone/>
            </a:pPr>
            <a:r>
              <a:rPr lang="en-US" sz="1500" b="1" dirty="0">
                <a:solidFill>
                  <a:srgbClr val="4A4A45"/>
                </a:solidFill>
                <a:latin typeface="Lato Bold" pitchFamily="34" charset="0"/>
                <a:ea typeface="Lato Bold" pitchFamily="34" charset="-122"/>
                <a:cs typeface="Lato Bold" pitchFamily="34" charset="-120"/>
              </a:rPr>
              <a:t>Enhance Seat Comfort</a:t>
            </a:r>
            <a:endParaRPr lang="en-US" sz="1500" dirty="0"/>
          </a:p>
        </p:txBody>
      </p:sp>
      <p:sp>
        <p:nvSpPr>
          <p:cNvPr id="17" name="Text 10"/>
          <p:cNvSpPr/>
          <p:nvPr/>
        </p:nvSpPr>
        <p:spPr>
          <a:xfrm>
            <a:off x="1533644" y="7374731"/>
            <a:ext cx="12560022" cy="245269"/>
          </a:xfrm>
          <a:prstGeom prst="rect">
            <a:avLst/>
          </a:prstGeom>
          <a:noFill/>
          <a:ln/>
        </p:spPr>
        <p:txBody>
          <a:bodyPr wrap="none" lIns="0" tIns="0" rIns="0" bIns="0" rtlCol="0" anchor="t"/>
          <a:lstStyle/>
          <a:p>
            <a:pPr algn="l" indent="0" marL="0">
              <a:lnSpc>
                <a:spcPts val="1900"/>
              </a:lnSpc>
              <a:buNone/>
            </a:pPr>
            <a:r>
              <a:rPr lang="en-US" sz="1200" dirty="0">
                <a:solidFill>
                  <a:srgbClr val="4A4A45"/>
                </a:solidFill>
                <a:latin typeface="Lato" pitchFamily="34" charset="0"/>
                <a:ea typeface="Lato" pitchFamily="34" charset="-122"/>
                <a:cs typeface="Lato" pitchFamily="34" charset="-120"/>
              </a:rPr>
              <a:t>Invest in ergonomics and legroom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49843" y="659963"/>
            <a:ext cx="7844314" cy="1160383"/>
          </a:xfrm>
          <a:prstGeom prst="rect">
            <a:avLst/>
          </a:prstGeom>
          <a:noFill/>
          <a:ln/>
        </p:spPr>
        <p:txBody>
          <a:bodyPr wrap="square" lIns="0" tIns="0" rIns="0" bIns="0" rtlCol="0" anchor="t"/>
          <a:lstStyle/>
          <a:p>
            <a:pPr algn="l" indent="0" marL="0">
              <a:lnSpc>
                <a:spcPts val="4550"/>
              </a:lnSpc>
              <a:buNone/>
            </a:pPr>
            <a:r>
              <a:rPr lang="en-US" sz="3650" b="1" dirty="0">
                <a:solidFill>
                  <a:srgbClr val="282824"/>
                </a:solidFill>
                <a:latin typeface="Lato Bold" pitchFamily="34" charset="0"/>
                <a:ea typeface="Lato Bold" pitchFamily="34" charset="-122"/>
                <a:cs typeface="Lato Bold" pitchFamily="34" charset="-120"/>
              </a:rPr>
              <a:t>Further Recommendations and References</a:t>
            </a:r>
            <a:endParaRPr lang="en-US" sz="3650" dirty="0"/>
          </a:p>
        </p:txBody>
      </p:sp>
      <p:sp>
        <p:nvSpPr>
          <p:cNvPr id="4" name="Text 1"/>
          <p:cNvSpPr/>
          <p:nvPr/>
        </p:nvSpPr>
        <p:spPr>
          <a:xfrm>
            <a:off x="649843" y="2098834"/>
            <a:ext cx="7844314" cy="593884"/>
          </a:xfrm>
          <a:prstGeom prst="rect">
            <a:avLst/>
          </a:prstGeom>
          <a:noFill/>
          <a:ln/>
        </p:spPr>
        <p:txBody>
          <a:bodyPr wrap="square" lIns="0" tIns="0" rIns="0" bIns="0" rtlCol="0" anchor="t"/>
          <a:lstStyle/>
          <a:p>
            <a:pPr algn="l" indent="0" marL="0">
              <a:lnSpc>
                <a:spcPts val="2300"/>
              </a:lnSpc>
              <a:buNone/>
            </a:pPr>
            <a:r>
              <a:rPr lang="en-US" sz="1450" dirty="0">
                <a:solidFill>
                  <a:srgbClr val="4A4A45"/>
                </a:solidFill>
                <a:latin typeface="Lato" pitchFamily="34" charset="0"/>
                <a:ea typeface="Lato" pitchFamily="34" charset="-122"/>
                <a:cs typeface="Lato" pitchFamily="34" charset="-120"/>
              </a:rPr>
              <a:t>Additional recommendations include strengthening check-in and onboard services, maintaining cleanliness, proactively minimizing arrival delays, and personalizing offers for loyal customers.</a:t>
            </a:r>
            <a:endParaRPr lang="en-US" sz="1450" dirty="0"/>
          </a:p>
        </p:txBody>
      </p:sp>
      <p:sp>
        <p:nvSpPr>
          <p:cNvPr id="5" name="Text 2"/>
          <p:cNvSpPr/>
          <p:nvPr/>
        </p:nvSpPr>
        <p:spPr>
          <a:xfrm>
            <a:off x="649843" y="2901553"/>
            <a:ext cx="7844314" cy="296942"/>
          </a:xfrm>
          <a:prstGeom prst="rect">
            <a:avLst/>
          </a:prstGeom>
          <a:noFill/>
          <a:ln/>
        </p:spPr>
        <p:txBody>
          <a:bodyPr wrap="none" lIns="0" tIns="0" rIns="0" bIns="0" rtlCol="0" anchor="t"/>
          <a:lstStyle/>
          <a:p>
            <a:pPr algn="l" indent="0" marL="0">
              <a:lnSpc>
                <a:spcPts val="2300"/>
              </a:lnSpc>
              <a:buNone/>
            </a:pPr>
            <a:endParaRPr lang="en-US" sz="1450" dirty="0"/>
          </a:p>
        </p:txBody>
      </p:sp>
      <p:sp>
        <p:nvSpPr>
          <p:cNvPr id="6" name="Shape 3"/>
          <p:cNvSpPr/>
          <p:nvPr/>
        </p:nvSpPr>
        <p:spPr>
          <a:xfrm>
            <a:off x="649843" y="3407331"/>
            <a:ext cx="417671" cy="417671"/>
          </a:xfrm>
          <a:prstGeom prst="roundRect">
            <a:avLst>
              <a:gd name="adj" fmla="val 6668"/>
            </a:avLst>
          </a:prstGeom>
          <a:solidFill>
            <a:srgbClr val="E5DFD2"/>
          </a:solidFill>
          <a:ln/>
        </p:spPr>
      </p:sp>
      <p:sp>
        <p:nvSpPr>
          <p:cNvPr id="7" name="Text 4"/>
          <p:cNvSpPr/>
          <p:nvPr/>
        </p:nvSpPr>
        <p:spPr>
          <a:xfrm>
            <a:off x="1253133" y="3471148"/>
            <a:ext cx="3106460" cy="290036"/>
          </a:xfrm>
          <a:prstGeom prst="rect">
            <a:avLst/>
          </a:prstGeom>
          <a:noFill/>
          <a:ln/>
        </p:spPr>
        <p:txBody>
          <a:bodyPr wrap="none" lIns="0" tIns="0" rIns="0" bIns="0" rtlCol="0" anchor="t"/>
          <a:lstStyle/>
          <a:p>
            <a:pPr algn="l" indent="0" marL="0">
              <a:lnSpc>
                <a:spcPts val="2250"/>
              </a:lnSpc>
              <a:buNone/>
            </a:pPr>
            <a:r>
              <a:rPr lang="en-US" sz="1800" b="1" dirty="0">
                <a:solidFill>
                  <a:srgbClr val="4A4A45"/>
                </a:solidFill>
                <a:latin typeface="Lato Bold" pitchFamily="34" charset="0"/>
                <a:ea typeface="Lato Bold" pitchFamily="34" charset="-122"/>
                <a:cs typeface="Lato Bold" pitchFamily="34" charset="-120"/>
              </a:rPr>
              <a:t>Check-in &amp; On-board Services</a:t>
            </a:r>
            <a:endParaRPr lang="en-US" sz="1800" dirty="0"/>
          </a:p>
        </p:txBody>
      </p:sp>
      <p:sp>
        <p:nvSpPr>
          <p:cNvPr id="8" name="Text 5"/>
          <p:cNvSpPr/>
          <p:nvPr/>
        </p:nvSpPr>
        <p:spPr>
          <a:xfrm>
            <a:off x="1253133" y="3872508"/>
            <a:ext cx="7241024" cy="296942"/>
          </a:xfrm>
          <a:prstGeom prst="rect">
            <a:avLst/>
          </a:prstGeom>
          <a:noFill/>
          <a:ln/>
        </p:spPr>
        <p:txBody>
          <a:bodyPr wrap="none" lIns="0" tIns="0" rIns="0" bIns="0" rtlCol="0" anchor="t"/>
          <a:lstStyle/>
          <a:p>
            <a:pPr algn="l" indent="0" marL="0">
              <a:lnSpc>
                <a:spcPts val="2300"/>
              </a:lnSpc>
              <a:buNone/>
            </a:pPr>
            <a:r>
              <a:rPr lang="en-US" sz="1450" dirty="0">
                <a:solidFill>
                  <a:srgbClr val="4A4A45"/>
                </a:solidFill>
                <a:latin typeface="Lato" pitchFamily="34" charset="0"/>
                <a:ea typeface="Lato" pitchFamily="34" charset="-122"/>
                <a:cs typeface="Lato" pitchFamily="34" charset="-120"/>
              </a:rPr>
              <a:t>Automate kiosks and improve staff training</a:t>
            </a:r>
            <a:endParaRPr lang="en-US" sz="1450" dirty="0"/>
          </a:p>
        </p:txBody>
      </p:sp>
      <p:sp>
        <p:nvSpPr>
          <p:cNvPr id="9" name="Shape 6"/>
          <p:cNvSpPr/>
          <p:nvPr/>
        </p:nvSpPr>
        <p:spPr>
          <a:xfrm>
            <a:off x="649843" y="4540687"/>
            <a:ext cx="417671" cy="417671"/>
          </a:xfrm>
          <a:prstGeom prst="roundRect">
            <a:avLst>
              <a:gd name="adj" fmla="val 6668"/>
            </a:avLst>
          </a:prstGeom>
          <a:solidFill>
            <a:srgbClr val="E5DFD2"/>
          </a:solidFill>
          <a:ln/>
        </p:spPr>
      </p:sp>
      <p:sp>
        <p:nvSpPr>
          <p:cNvPr id="10" name="Text 7"/>
          <p:cNvSpPr/>
          <p:nvPr/>
        </p:nvSpPr>
        <p:spPr>
          <a:xfrm>
            <a:off x="1253133" y="4604504"/>
            <a:ext cx="2320885" cy="290036"/>
          </a:xfrm>
          <a:prstGeom prst="rect">
            <a:avLst/>
          </a:prstGeom>
          <a:noFill/>
          <a:ln/>
        </p:spPr>
        <p:txBody>
          <a:bodyPr wrap="none" lIns="0" tIns="0" rIns="0" bIns="0" rtlCol="0" anchor="t"/>
          <a:lstStyle/>
          <a:p>
            <a:pPr algn="l" indent="0" marL="0">
              <a:lnSpc>
                <a:spcPts val="2250"/>
              </a:lnSpc>
              <a:buNone/>
            </a:pPr>
            <a:r>
              <a:rPr lang="en-US" sz="1800" b="1" dirty="0">
                <a:solidFill>
                  <a:srgbClr val="4A4A45"/>
                </a:solidFill>
                <a:latin typeface="Lato Bold" pitchFamily="34" charset="0"/>
                <a:ea typeface="Lato Bold" pitchFamily="34" charset="-122"/>
                <a:cs typeface="Lato Bold" pitchFamily="34" charset="-120"/>
              </a:rPr>
              <a:t>Cleanliness</a:t>
            </a:r>
            <a:endParaRPr lang="en-US" sz="1800" dirty="0"/>
          </a:p>
        </p:txBody>
      </p:sp>
      <p:sp>
        <p:nvSpPr>
          <p:cNvPr id="11" name="Text 8"/>
          <p:cNvSpPr/>
          <p:nvPr/>
        </p:nvSpPr>
        <p:spPr>
          <a:xfrm>
            <a:off x="1253133" y="5005864"/>
            <a:ext cx="7241024" cy="296942"/>
          </a:xfrm>
          <a:prstGeom prst="rect">
            <a:avLst/>
          </a:prstGeom>
          <a:noFill/>
          <a:ln/>
        </p:spPr>
        <p:txBody>
          <a:bodyPr wrap="none" lIns="0" tIns="0" rIns="0" bIns="0" rtlCol="0" anchor="t"/>
          <a:lstStyle/>
          <a:p>
            <a:pPr algn="l" indent="0" marL="0">
              <a:lnSpc>
                <a:spcPts val="2300"/>
              </a:lnSpc>
              <a:buNone/>
            </a:pPr>
            <a:r>
              <a:rPr lang="en-US" sz="1450" dirty="0">
                <a:solidFill>
                  <a:srgbClr val="4A4A45"/>
                </a:solidFill>
                <a:latin typeface="Lato" pitchFamily="34" charset="0"/>
                <a:ea typeface="Lato" pitchFamily="34" charset="-122"/>
                <a:cs typeface="Lato" pitchFamily="34" charset="-120"/>
              </a:rPr>
              <a:t>Increase cleaning frequency, especially during delays</a:t>
            </a:r>
            <a:endParaRPr lang="en-US" sz="1450" dirty="0"/>
          </a:p>
        </p:txBody>
      </p:sp>
      <p:sp>
        <p:nvSpPr>
          <p:cNvPr id="12" name="Shape 9"/>
          <p:cNvSpPr/>
          <p:nvPr/>
        </p:nvSpPr>
        <p:spPr>
          <a:xfrm>
            <a:off x="649843" y="5674042"/>
            <a:ext cx="417671" cy="417671"/>
          </a:xfrm>
          <a:prstGeom prst="roundRect">
            <a:avLst>
              <a:gd name="adj" fmla="val 6668"/>
            </a:avLst>
          </a:prstGeom>
          <a:solidFill>
            <a:srgbClr val="E5DFD2"/>
          </a:solidFill>
          <a:ln/>
        </p:spPr>
      </p:sp>
      <p:sp>
        <p:nvSpPr>
          <p:cNvPr id="13" name="Text 10"/>
          <p:cNvSpPr/>
          <p:nvPr/>
        </p:nvSpPr>
        <p:spPr>
          <a:xfrm>
            <a:off x="1253133" y="5737860"/>
            <a:ext cx="2481382" cy="290036"/>
          </a:xfrm>
          <a:prstGeom prst="rect">
            <a:avLst/>
          </a:prstGeom>
          <a:noFill/>
          <a:ln/>
        </p:spPr>
        <p:txBody>
          <a:bodyPr wrap="none" lIns="0" tIns="0" rIns="0" bIns="0" rtlCol="0" anchor="t"/>
          <a:lstStyle/>
          <a:p>
            <a:pPr algn="l" indent="0" marL="0">
              <a:lnSpc>
                <a:spcPts val="2250"/>
              </a:lnSpc>
              <a:buNone/>
            </a:pPr>
            <a:r>
              <a:rPr lang="en-US" sz="1800" b="1" dirty="0">
                <a:solidFill>
                  <a:srgbClr val="4A4A45"/>
                </a:solidFill>
                <a:latin typeface="Lato Bold" pitchFamily="34" charset="0"/>
                <a:ea typeface="Lato Bold" pitchFamily="34" charset="-122"/>
                <a:cs typeface="Lato Bold" pitchFamily="34" charset="-120"/>
              </a:rPr>
              <a:t>Minimize Arrival Delays</a:t>
            </a:r>
            <a:endParaRPr lang="en-US" sz="1800" dirty="0"/>
          </a:p>
        </p:txBody>
      </p:sp>
      <p:sp>
        <p:nvSpPr>
          <p:cNvPr id="14" name="Text 11"/>
          <p:cNvSpPr/>
          <p:nvPr/>
        </p:nvSpPr>
        <p:spPr>
          <a:xfrm>
            <a:off x="1253133" y="6139220"/>
            <a:ext cx="7241024" cy="296942"/>
          </a:xfrm>
          <a:prstGeom prst="rect">
            <a:avLst/>
          </a:prstGeom>
          <a:noFill/>
          <a:ln/>
        </p:spPr>
        <p:txBody>
          <a:bodyPr wrap="none" lIns="0" tIns="0" rIns="0" bIns="0" rtlCol="0" anchor="t"/>
          <a:lstStyle/>
          <a:p>
            <a:pPr algn="l" indent="0" marL="0">
              <a:lnSpc>
                <a:spcPts val="2300"/>
              </a:lnSpc>
              <a:buNone/>
            </a:pPr>
            <a:r>
              <a:rPr lang="en-US" sz="1450" dirty="0">
                <a:solidFill>
                  <a:srgbClr val="4A4A45"/>
                </a:solidFill>
                <a:latin typeface="Lato" pitchFamily="34" charset="0"/>
                <a:ea typeface="Lato" pitchFamily="34" charset="-122"/>
                <a:cs typeface="Lato" pitchFamily="34" charset="-120"/>
              </a:rPr>
              <a:t>Communicate proactively and offer compensation</a:t>
            </a:r>
            <a:endParaRPr lang="en-US" sz="1450" dirty="0"/>
          </a:p>
        </p:txBody>
      </p:sp>
      <p:sp>
        <p:nvSpPr>
          <p:cNvPr id="15" name="Shape 12"/>
          <p:cNvSpPr/>
          <p:nvPr/>
        </p:nvSpPr>
        <p:spPr>
          <a:xfrm>
            <a:off x="649843" y="6807398"/>
            <a:ext cx="417671" cy="417671"/>
          </a:xfrm>
          <a:prstGeom prst="roundRect">
            <a:avLst>
              <a:gd name="adj" fmla="val 6668"/>
            </a:avLst>
          </a:prstGeom>
          <a:solidFill>
            <a:srgbClr val="E5DFD2"/>
          </a:solidFill>
          <a:ln/>
        </p:spPr>
      </p:sp>
      <p:sp>
        <p:nvSpPr>
          <p:cNvPr id="16" name="Text 13"/>
          <p:cNvSpPr/>
          <p:nvPr/>
        </p:nvSpPr>
        <p:spPr>
          <a:xfrm>
            <a:off x="1253133" y="6871216"/>
            <a:ext cx="2320885" cy="290036"/>
          </a:xfrm>
          <a:prstGeom prst="rect">
            <a:avLst/>
          </a:prstGeom>
          <a:noFill/>
          <a:ln/>
        </p:spPr>
        <p:txBody>
          <a:bodyPr wrap="none" lIns="0" tIns="0" rIns="0" bIns="0" rtlCol="0" anchor="t"/>
          <a:lstStyle/>
          <a:p>
            <a:pPr algn="l" indent="0" marL="0">
              <a:lnSpc>
                <a:spcPts val="2250"/>
              </a:lnSpc>
              <a:buNone/>
            </a:pPr>
            <a:r>
              <a:rPr lang="en-US" sz="1800" b="1" dirty="0">
                <a:solidFill>
                  <a:srgbClr val="4A4A45"/>
                </a:solidFill>
                <a:latin typeface="Lato Bold" pitchFamily="34" charset="0"/>
                <a:ea typeface="Lato Bold" pitchFamily="34" charset="-122"/>
                <a:cs typeface="Lato Bold" pitchFamily="34" charset="-120"/>
              </a:rPr>
              <a:t>Personalized Offers</a:t>
            </a:r>
            <a:endParaRPr lang="en-US" sz="1800" dirty="0"/>
          </a:p>
        </p:txBody>
      </p:sp>
      <p:sp>
        <p:nvSpPr>
          <p:cNvPr id="17" name="Text 14"/>
          <p:cNvSpPr/>
          <p:nvPr/>
        </p:nvSpPr>
        <p:spPr>
          <a:xfrm>
            <a:off x="1253133" y="7272576"/>
            <a:ext cx="7241024" cy="296942"/>
          </a:xfrm>
          <a:prstGeom prst="rect">
            <a:avLst/>
          </a:prstGeom>
          <a:noFill/>
          <a:ln/>
        </p:spPr>
        <p:txBody>
          <a:bodyPr wrap="none" lIns="0" tIns="0" rIns="0" bIns="0" rtlCol="0" anchor="t"/>
          <a:lstStyle/>
          <a:p>
            <a:pPr algn="l" indent="0" marL="0">
              <a:lnSpc>
                <a:spcPts val="2300"/>
              </a:lnSpc>
              <a:buNone/>
            </a:pPr>
            <a:r>
              <a:rPr lang="en-US" sz="1450" dirty="0">
                <a:solidFill>
                  <a:srgbClr val="4A4A45"/>
                </a:solidFill>
                <a:latin typeface="Lato" pitchFamily="34" charset="0"/>
                <a:ea typeface="Lato" pitchFamily="34" charset="-122"/>
                <a:cs typeface="Lato" pitchFamily="34" charset="-120"/>
              </a:rPr>
              <a:t>Target loyal and disloyal customers differently</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449949"/>
            <a:ext cx="7438787" cy="708779"/>
          </a:xfrm>
          <a:prstGeom prst="rect">
            <a:avLst/>
          </a:prstGeom>
          <a:noFill/>
          <a:ln/>
        </p:spPr>
        <p:txBody>
          <a:bodyPr wrap="none" lIns="0" tIns="0" rIns="0" bIns="0" rtlCol="0" anchor="t"/>
          <a:lstStyle/>
          <a:p>
            <a:pPr algn="l" indent="0" marL="0">
              <a:lnSpc>
                <a:spcPts val="5550"/>
              </a:lnSpc>
              <a:buNone/>
            </a:pPr>
            <a:r>
              <a:rPr lang="en-US" sz="4450" b="1" dirty="0">
                <a:solidFill>
                  <a:srgbClr val="282824"/>
                </a:solidFill>
                <a:latin typeface="Lato Bold" pitchFamily="34" charset="0"/>
                <a:ea typeface="Lato Bold" pitchFamily="34" charset="-122"/>
                <a:cs typeface="Lato Bold" pitchFamily="34" charset="-120"/>
              </a:rPr>
              <a:t>Thank You for Your Attention</a:t>
            </a:r>
            <a:endParaRPr lang="en-US" sz="4450" dirty="0"/>
          </a:p>
        </p:txBody>
      </p:sp>
      <p:sp>
        <p:nvSpPr>
          <p:cNvPr id="3" name="Text 1"/>
          <p:cNvSpPr/>
          <p:nvPr/>
        </p:nvSpPr>
        <p:spPr>
          <a:xfrm>
            <a:off x="793790" y="361235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We appreciate your time and interest in our Airline Passenger Satisfaction Project.</a:t>
            </a:r>
            <a:endParaRPr lang="en-US" sz="1750" dirty="0"/>
          </a:p>
        </p:txBody>
      </p:sp>
      <p:sp>
        <p:nvSpPr>
          <p:cNvPr id="4" name="Text 2"/>
          <p:cNvSpPr/>
          <p:nvPr/>
        </p:nvSpPr>
        <p:spPr>
          <a:xfrm>
            <a:off x="793790" y="4230410"/>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Looking forward to your questions and next steps to enhance passenger experience.</a:t>
            </a:r>
            <a:endParaRPr lang="en-US" sz="1750" dirty="0"/>
          </a:p>
        </p:txBody>
      </p:sp>
      <p:sp>
        <p:nvSpPr>
          <p:cNvPr id="5" name="Shape 3"/>
          <p:cNvSpPr/>
          <p:nvPr/>
        </p:nvSpPr>
        <p:spPr>
          <a:xfrm>
            <a:off x="793790" y="4848463"/>
            <a:ext cx="510302" cy="510302"/>
          </a:xfrm>
          <a:prstGeom prst="roundRect">
            <a:avLst>
              <a:gd name="adj" fmla="val 6667"/>
            </a:avLst>
          </a:prstGeom>
          <a:solidFill>
            <a:srgbClr val="E5DFD2"/>
          </a:solidFill>
          <a:ln/>
        </p:spPr>
      </p:sp>
      <p:sp>
        <p:nvSpPr>
          <p:cNvPr id="6" name="Text 4"/>
          <p:cNvSpPr/>
          <p:nvPr/>
        </p:nvSpPr>
        <p:spPr>
          <a:xfrm>
            <a:off x="1530906" y="492633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A4A45"/>
                </a:solidFill>
                <a:latin typeface="Lato Bold" pitchFamily="34" charset="0"/>
                <a:ea typeface="Lato Bold" pitchFamily="34" charset="-122"/>
                <a:cs typeface="Lato Bold" pitchFamily="34" charset="-120"/>
              </a:rPr>
              <a:t>Questions Welcome</a:t>
            </a:r>
            <a:endParaRPr lang="en-US" sz="2200" dirty="0"/>
          </a:p>
        </p:txBody>
      </p:sp>
      <p:sp>
        <p:nvSpPr>
          <p:cNvPr id="7" name="Text 5"/>
          <p:cNvSpPr/>
          <p:nvPr/>
        </p:nvSpPr>
        <p:spPr>
          <a:xfrm>
            <a:off x="1530906" y="5416748"/>
            <a:ext cx="12305705" cy="362903"/>
          </a:xfrm>
          <a:prstGeom prst="rect">
            <a:avLst/>
          </a:prstGeom>
          <a:noFill/>
          <a:ln/>
        </p:spPr>
        <p:txBody>
          <a:bodyPr wrap="none" lIns="0" tIns="0" rIns="0" bIns="0" rtlCol="0" anchor="t"/>
          <a:lstStyle/>
          <a:p>
            <a:pPr algn="l" indent="0" marL="0">
              <a:lnSpc>
                <a:spcPts val="2850"/>
              </a:lnSpc>
              <a:buNone/>
            </a:pPr>
            <a:r>
              <a:rPr lang="en-US" sz="1750" dirty="0">
                <a:solidFill>
                  <a:srgbClr val="4A4A45"/>
                </a:solidFill>
                <a:latin typeface="Lato" pitchFamily="34" charset="0"/>
                <a:ea typeface="Lato" pitchFamily="34" charset="-122"/>
                <a:cs typeface="Lato" pitchFamily="34" charset="-120"/>
              </a:rPr>
              <a:t>We're here to clarify and discuss insights in detail.</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2025-05-13T22:30:39Z</dcterms:created>
  <dcterms:modified xsi:type="dcterms:W3CDTF">2025-05-13T22:30:39Z</dcterms:modified>
</cp:coreProperties>
</file>